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6"/>
    <p:restoredTop sz="94645"/>
  </p:normalViewPr>
  <p:slideViewPr>
    <p:cSldViewPr snapToGrid="0" snapToObjects="1">
      <p:cViewPr varScale="1">
        <p:scale>
          <a:sx n="172" d="100"/>
          <a:sy n="172" d="100"/>
        </p:scale>
        <p:origin x="2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34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jp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Aircraft on stand at sunset with ground handling vehicles"/>
          <p:cNvPicPr>
            <a:picLocks noChangeAspect="1"/>
          </p:cNvPicPr>
          <p:nvPr/>
        </p:nvPicPr>
        <p:blipFill>
          <a:blip r:embed="rId2"/>
          <a:srcRect l="16198" r="16198"/>
          <a:stretch>
            <a:fillRect/>
          </a:stretch>
        </p:blipFill>
        <p:spPr>
          <a:xfrm>
            <a:off x="0" y="0"/>
            <a:ext cx="6949440" cy="6858000"/>
          </a:xfrm>
          <a:prstGeom prst="rect">
            <a:avLst/>
          </a:prstGeom>
        </p:spPr>
      </p:pic>
      <p:sp>
        <p:nvSpPr>
          <p:cNvPr id="3" name="Navy overlay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F2942">
              <a:alpha val="8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4" name="Logo" descr="Saphir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55608"/>
            <a:ext cx="566928" cy="461551"/>
          </a:xfrm>
          <a:prstGeom prst="rect">
            <a:avLst/>
          </a:prstGeom>
        </p:spPr>
      </p:pic>
      <p:sp>
        <p:nvSpPr>
          <p:cNvPr id="5" name="Wordmark"/>
          <p:cNvSpPr txBox="1"/>
          <p:nvPr/>
        </p:nvSpPr>
        <p:spPr>
          <a:xfrm>
            <a:off x="1298448" y="548640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-20">
                <a:solidFill>
                  <a:srgbClr val="FFFFFF"/>
                </a:solidFill>
                <a:latin typeface="Plus Jakarta Sans ExtraBold"/>
              </a:rPr>
              <a:t>SAPHIRE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38BDF8"/>
                </a:solidFill>
                <a:latin typeface="Inter Medium"/>
              </a:rPr>
              <a:t>International Airport</a:t>
            </a:r>
          </a:p>
        </p:txBody>
      </p:sp>
      <p:sp>
        <p:nvSpPr>
          <p:cNvPr id="6" name="Chip"/>
          <p:cNvSpPr/>
          <p:nvPr/>
        </p:nvSpPr>
        <p:spPr>
          <a:xfrm>
            <a:off x="640080" y="1783080"/>
            <a:ext cx="3199943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2000"/>
              </a:srgbClr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" name="Chip text"/>
          <p:cNvSpPr txBox="1"/>
          <p:nvPr/>
        </p:nvSpPr>
        <p:spPr>
          <a:xfrm>
            <a:off x="640080" y="1783080"/>
            <a:ext cx="3199943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E0F2FE"/>
                </a:solidFill>
                <a:latin typeface="Outfit SemiBold"/>
              </a:rPr>
              <a:t>Software Engineering Project · October 2026</a:t>
            </a:r>
          </a:p>
        </p:txBody>
      </p:sp>
      <p:sp>
        <p:nvSpPr>
          <p:cNvPr id="8" name="Display title"/>
          <p:cNvSpPr txBox="1"/>
          <p:nvPr/>
        </p:nvSpPr>
        <p:spPr>
          <a:xfrm>
            <a:off x="640080" y="2212848"/>
            <a:ext cx="60350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0" i="0" spc="-180">
                <a:solidFill>
                  <a:srgbClr val="FFFFFF"/>
                </a:solidFill>
                <a:latin typeface="Plus Jakarta Sans ExtraBold"/>
              </a:rPr>
              <a:t>Saphire AOCS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640080" y="3090672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spc="-20">
                <a:solidFill>
                  <a:srgbClr val="38BDF8"/>
                </a:solidFill>
                <a:latin typeface="Plus Jakarta Sans"/>
              </a:rPr>
              <a:t>Airport Operations Coordination System</a:t>
            </a:r>
          </a:p>
        </p:txBody>
      </p:sp>
      <p:sp>
        <p:nvSpPr>
          <p:cNvPr id="10" name="Description"/>
          <p:cNvSpPr txBox="1"/>
          <p:nvPr/>
        </p:nvSpPr>
        <p:spPr>
          <a:xfrm>
            <a:off x="640080" y="3611880"/>
            <a:ext cx="539496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CBD5E1"/>
                </a:solidFill>
                <a:latin typeface="Inter"/>
              </a:rPr>
              <a:t>A full-stack platform that coordinates flight turnaround, gate assignment, check-in, baggage reconciliation, runway status and airline billing for one hub airport.</a:t>
            </a:r>
          </a:p>
        </p:txBody>
      </p:sp>
      <p:sp>
        <p:nvSpPr>
          <p:cNvPr id="11" name="Stat value"/>
          <p:cNvSpPr txBox="1"/>
          <p:nvPr/>
        </p:nvSpPr>
        <p:spPr>
          <a:xfrm>
            <a:off x="640080" y="504748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>
                <a:solidFill>
                  <a:srgbClr val="FFFFFF"/>
                </a:solidFill>
                <a:latin typeface="Outfit ExtraBold"/>
              </a:rPr>
              <a:t>43</a:t>
            </a:r>
          </a:p>
        </p:txBody>
      </p:sp>
      <p:sp>
        <p:nvSpPr>
          <p:cNvPr id="12" name="Stat label"/>
          <p:cNvSpPr txBox="1"/>
          <p:nvPr/>
        </p:nvSpPr>
        <p:spPr>
          <a:xfrm>
            <a:off x="640080" y="5486400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94A3B8"/>
                </a:solidFill>
                <a:latin typeface="Inter"/>
              </a:rPr>
              <a:t>Relational tables</a:t>
            </a:r>
          </a:p>
        </p:txBody>
      </p:sp>
      <p:cxnSp>
        <p:nvCxnSpPr>
          <p:cNvPr id="13" name="Stat divider"/>
          <p:cNvCxnSpPr/>
          <p:nvPr/>
        </p:nvCxnSpPr>
        <p:spPr>
          <a:xfrm>
            <a:off x="2002536" y="5120640"/>
            <a:ext cx="0" cy="658368"/>
          </a:xfrm>
          <a:prstGeom prst="line">
            <a:avLst/>
          </a:prstGeom>
          <a:ln w="9525">
            <a:solidFill>
              <a:srgbClr val="475569"/>
            </a:solidFill>
          </a:ln>
        </p:spPr>
      </p:cxnSp>
      <p:sp>
        <p:nvSpPr>
          <p:cNvPr id="14" name="Stat value"/>
          <p:cNvSpPr txBox="1"/>
          <p:nvPr/>
        </p:nvSpPr>
        <p:spPr>
          <a:xfrm>
            <a:off x="2121408" y="504748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>
                <a:solidFill>
                  <a:srgbClr val="FFFFFF"/>
                </a:solidFill>
                <a:latin typeface="Outfit ExtraBold"/>
              </a:rPr>
              <a:t>158k+</a:t>
            </a:r>
          </a:p>
        </p:txBody>
      </p:sp>
      <p:sp>
        <p:nvSpPr>
          <p:cNvPr id="15" name="Stat label"/>
          <p:cNvSpPr txBox="1"/>
          <p:nvPr/>
        </p:nvSpPr>
        <p:spPr>
          <a:xfrm>
            <a:off x="2121408" y="5486400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94A3B8"/>
                </a:solidFill>
                <a:latin typeface="Inter"/>
              </a:rPr>
              <a:t>Seed records</a:t>
            </a:r>
          </a:p>
        </p:txBody>
      </p:sp>
      <p:cxnSp>
        <p:nvCxnSpPr>
          <p:cNvPr id="16" name="Stat divider"/>
          <p:cNvCxnSpPr/>
          <p:nvPr/>
        </p:nvCxnSpPr>
        <p:spPr>
          <a:xfrm>
            <a:off x="3483864" y="5120640"/>
            <a:ext cx="0" cy="658368"/>
          </a:xfrm>
          <a:prstGeom prst="line">
            <a:avLst/>
          </a:prstGeom>
          <a:ln w="9525">
            <a:solidFill>
              <a:srgbClr val="475569"/>
            </a:solidFill>
          </a:ln>
        </p:spPr>
      </p:cxnSp>
      <p:sp>
        <p:nvSpPr>
          <p:cNvPr id="17" name="Stat value"/>
          <p:cNvSpPr txBox="1"/>
          <p:nvPr/>
        </p:nvSpPr>
        <p:spPr>
          <a:xfrm>
            <a:off x="3602736" y="504748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>
                <a:solidFill>
                  <a:srgbClr val="FFFFFF"/>
                </a:solidFill>
                <a:latin typeface="Outfit ExtraBold"/>
              </a:rPr>
              <a:t>16</a:t>
            </a:r>
          </a:p>
        </p:txBody>
      </p:sp>
      <p:sp>
        <p:nvSpPr>
          <p:cNvPr id="18" name="Stat label"/>
          <p:cNvSpPr txBox="1"/>
          <p:nvPr/>
        </p:nvSpPr>
        <p:spPr>
          <a:xfrm>
            <a:off x="3602736" y="5486400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94A3B8"/>
                </a:solidFill>
                <a:latin typeface="Inter"/>
              </a:rPr>
              <a:t>Pages and consoles</a:t>
            </a:r>
          </a:p>
        </p:txBody>
      </p:sp>
      <p:cxnSp>
        <p:nvCxnSpPr>
          <p:cNvPr id="19" name="Stat divider"/>
          <p:cNvCxnSpPr/>
          <p:nvPr/>
        </p:nvCxnSpPr>
        <p:spPr>
          <a:xfrm>
            <a:off x="4965192" y="5120640"/>
            <a:ext cx="0" cy="658368"/>
          </a:xfrm>
          <a:prstGeom prst="line">
            <a:avLst/>
          </a:prstGeom>
          <a:ln w="9525">
            <a:solidFill>
              <a:srgbClr val="475569"/>
            </a:solidFill>
          </a:ln>
        </p:spPr>
      </p:cxnSp>
      <p:sp>
        <p:nvSpPr>
          <p:cNvPr id="20" name="Stat value"/>
          <p:cNvSpPr txBox="1"/>
          <p:nvPr/>
        </p:nvSpPr>
        <p:spPr>
          <a:xfrm>
            <a:off x="5084064" y="504748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>
                <a:solidFill>
                  <a:srgbClr val="FFFFFF"/>
                </a:solidFill>
                <a:latin typeface="Outfit ExtraBold"/>
              </a:rPr>
              <a:t>109</a:t>
            </a:r>
          </a:p>
        </p:txBody>
      </p:sp>
      <p:sp>
        <p:nvSpPr>
          <p:cNvPr id="21" name="Stat label"/>
          <p:cNvSpPr txBox="1"/>
          <p:nvPr/>
        </p:nvSpPr>
        <p:spPr>
          <a:xfrm>
            <a:off x="5084064" y="5486400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94A3B8"/>
                </a:solidFill>
                <a:latin typeface="Inter"/>
              </a:rPr>
              <a:t>Automated tests</a:t>
            </a:r>
          </a:p>
        </p:txBody>
      </p:sp>
      <p:sp>
        <p:nvSpPr>
          <p:cNvPr id="22" name="Roster panel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Roster title"/>
          <p:cNvSpPr txBox="1"/>
          <p:nvPr/>
        </p:nvSpPr>
        <p:spPr>
          <a:xfrm>
            <a:off x="7452360" y="713232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spc="-44">
                <a:solidFill>
                  <a:srgbClr val="0F2942"/>
                </a:solidFill>
                <a:latin typeface="Plus Jakarta Sans ExtraBold"/>
              </a:rPr>
              <a:t>Project team</a:t>
            </a:r>
          </a:p>
        </p:txBody>
      </p:sp>
      <p:sp>
        <p:nvSpPr>
          <p:cNvPr id="24" name="Roster subtitle"/>
          <p:cNvSpPr txBox="1"/>
          <p:nvPr/>
        </p:nvSpPr>
        <p:spPr>
          <a:xfrm>
            <a:off x="7452360" y="10972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Roles and module ownership</a:t>
            </a:r>
          </a:p>
        </p:txBody>
      </p:sp>
      <p:sp>
        <p:nvSpPr>
          <p:cNvPr id="25" name="Member card"/>
          <p:cNvSpPr/>
          <p:nvPr/>
        </p:nvSpPr>
        <p:spPr>
          <a:xfrm>
            <a:off x="7452360" y="1572768"/>
            <a:ext cx="4236415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6" name="Avatar"/>
          <p:cNvSpPr/>
          <p:nvPr/>
        </p:nvSpPr>
        <p:spPr>
          <a:xfrm>
            <a:off x="7635240" y="1783080"/>
            <a:ext cx="512064" cy="512064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Initials"/>
          <p:cNvSpPr txBox="1"/>
          <p:nvPr/>
        </p:nvSpPr>
        <p:spPr>
          <a:xfrm>
            <a:off x="7635240" y="178308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Outfit"/>
              </a:rPr>
              <a:t>KS</a:t>
            </a:r>
          </a:p>
        </p:txBody>
      </p:sp>
      <p:sp>
        <p:nvSpPr>
          <p:cNvPr id="28" name="Member name"/>
          <p:cNvSpPr txBox="1"/>
          <p:nvPr/>
        </p:nvSpPr>
        <p:spPr>
          <a:xfrm>
            <a:off x="8293608" y="17099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6">
                <a:solidFill>
                  <a:srgbClr val="0F2942"/>
                </a:solidFill>
                <a:latin typeface="Plus Jakarta Sans"/>
              </a:rPr>
              <a:t>Krishna Solanki</a:t>
            </a:r>
          </a:p>
        </p:txBody>
      </p:sp>
      <p:sp>
        <p:nvSpPr>
          <p:cNvPr id="29" name="Chip"/>
          <p:cNvSpPr/>
          <p:nvPr/>
        </p:nvSpPr>
        <p:spPr>
          <a:xfrm>
            <a:off x="10963382" y="1728216"/>
            <a:ext cx="524226" cy="2468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" name="Chip text"/>
          <p:cNvSpPr txBox="1"/>
          <p:nvPr/>
        </p:nvSpPr>
        <p:spPr>
          <a:xfrm>
            <a:off x="10963382" y="1728216"/>
            <a:ext cx="52422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I075</a:t>
            </a:r>
          </a:p>
        </p:txBody>
      </p:sp>
      <p:sp>
        <p:nvSpPr>
          <p:cNvPr id="31" name="Member role"/>
          <p:cNvSpPr txBox="1"/>
          <p:nvPr/>
        </p:nvSpPr>
        <p:spPr>
          <a:xfrm>
            <a:off x="8293608" y="200253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Inter Medium"/>
              </a:rPr>
              <a:t>Database &amp; System Integration Lead</a:t>
            </a:r>
          </a:p>
        </p:txBody>
      </p:sp>
      <p:sp>
        <p:nvSpPr>
          <p:cNvPr id="32" name="Member detail"/>
          <p:cNvSpPr txBox="1"/>
          <p:nvPr/>
        </p:nvSpPr>
        <p:spPr>
          <a:xfrm>
            <a:off x="8293608" y="222199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94A3B8"/>
                </a:solidFill>
                <a:latin typeface="Inter"/>
              </a:rPr>
              <a:t>PostgreSQL · Flyway · API integration</a:t>
            </a:r>
          </a:p>
        </p:txBody>
      </p:sp>
      <p:sp>
        <p:nvSpPr>
          <p:cNvPr id="33" name="Member card"/>
          <p:cNvSpPr/>
          <p:nvPr/>
        </p:nvSpPr>
        <p:spPr>
          <a:xfrm>
            <a:off x="7452360" y="2651760"/>
            <a:ext cx="4236415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34" name="Avatar"/>
          <p:cNvSpPr/>
          <p:nvPr/>
        </p:nvSpPr>
        <p:spPr>
          <a:xfrm>
            <a:off x="7635240" y="2862072"/>
            <a:ext cx="512064" cy="512064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" name="Initials"/>
          <p:cNvSpPr txBox="1"/>
          <p:nvPr/>
        </p:nvSpPr>
        <p:spPr>
          <a:xfrm>
            <a:off x="7635240" y="286207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Outfit"/>
              </a:rPr>
              <a:t>CT</a:t>
            </a:r>
          </a:p>
        </p:txBody>
      </p:sp>
      <p:sp>
        <p:nvSpPr>
          <p:cNvPr id="36" name="Member name"/>
          <p:cNvSpPr txBox="1"/>
          <p:nvPr/>
        </p:nvSpPr>
        <p:spPr>
          <a:xfrm>
            <a:off x="8293608" y="27889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6">
                <a:solidFill>
                  <a:srgbClr val="0F2942"/>
                </a:solidFill>
                <a:latin typeface="Plus Jakarta Sans"/>
              </a:rPr>
              <a:t>Chaitanya Tikku</a:t>
            </a:r>
          </a:p>
        </p:txBody>
      </p:sp>
      <p:sp>
        <p:nvSpPr>
          <p:cNvPr id="37" name="Chip"/>
          <p:cNvSpPr/>
          <p:nvPr/>
        </p:nvSpPr>
        <p:spPr>
          <a:xfrm>
            <a:off x="10963382" y="2807208"/>
            <a:ext cx="524226" cy="2468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" name="Chip text"/>
          <p:cNvSpPr txBox="1"/>
          <p:nvPr/>
        </p:nvSpPr>
        <p:spPr>
          <a:xfrm>
            <a:off x="10963382" y="2807208"/>
            <a:ext cx="52422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I078</a:t>
            </a:r>
          </a:p>
        </p:txBody>
      </p:sp>
      <p:sp>
        <p:nvSpPr>
          <p:cNvPr id="39" name="Member role"/>
          <p:cNvSpPr txBox="1"/>
          <p:nvPr/>
        </p:nvSpPr>
        <p:spPr>
          <a:xfrm>
            <a:off x="8293608" y="3081528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Inter Medium"/>
              </a:rPr>
              <a:t>Documentation, UML &amp; QA Lead</a:t>
            </a:r>
          </a:p>
        </p:txBody>
      </p:sp>
      <p:sp>
        <p:nvSpPr>
          <p:cNvPr id="40" name="Member detail"/>
          <p:cNvSpPr txBox="1"/>
          <p:nvPr/>
        </p:nvSpPr>
        <p:spPr>
          <a:xfrm>
            <a:off x="8293608" y="3300984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94A3B8"/>
                </a:solidFill>
                <a:latin typeface="Inter"/>
              </a:rPr>
              <a:t>SRS · UML diagrams · test suite</a:t>
            </a:r>
          </a:p>
        </p:txBody>
      </p:sp>
      <p:sp>
        <p:nvSpPr>
          <p:cNvPr id="41" name="Member card"/>
          <p:cNvSpPr/>
          <p:nvPr/>
        </p:nvSpPr>
        <p:spPr>
          <a:xfrm>
            <a:off x="7452360" y="3730752"/>
            <a:ext cx="4236415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2" name="Avatar"/>
          <p:cNvSpPr/>
          <p:nvPr/>
        </p:nvSpPr>
        <p:spPr>
          <a:xfrm>
            <a:off x="7635240" y="3941064"/>
            <a:ext cx="512064" cy="512064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3" name="Initials"/>
          <p:cNvSpPr txBox="1"/>
          <p:nvPr/>
        </p:nvSpPr>
        <p:spPr>
          <a:xfrm>
            <a:off x="7635240" y="3941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Outfit"/>
              </a:rPr>
              <a:t>AT</a:t>
            </a:r>
          </a:p>
        </p:txBody>
      </p:sp>
      <p:sp>
        <p:nvSpPr>
          <p:cNvPr id="44" name="Member name"/>
          <p:cNvSpPr txBox="1"/>
          <p:nvPr/>
        </p:nvSpPr>
        <p:spPr>
          <a:xfrm>
            <a:off x="8293608" y="386791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6">
                <a:solidFill>
                  <a:srgbClr val="0F2942"/>
                </a:solidFill>
                <a:latin typeface="Plus Jakarta Sans"/>
              </a:rPr>
              <a:t>Anuvrat Tripathi</a:t>
            </a:r>
          </a:p>
        </p:txBody>
      </p:sp>
      <p:sp>
        <p:nvSpPr>
          <p:cNvPr id="45" name="Chip"/>
          <p:cNvSpPr/>
          <p:nvPr/>
        </p:nvSpPr>
        <p:spPr>
          <a:xfrm>
            <a:off x="10963382" y="3886200"/>
            <a:ext cx="524226" cy="2468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6" name="Chip text"/>
          <p:cNvSpPr txBox="1"/>
          <p:nvPr/>
        </p:nvSpPr>
        <p:spPr>
          <a:xfrm>
            <a:off x="10963382" y="3886200"/>
            <a:ext cx="52422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I080</a:t>
            </a:r>
          </a:p>
        </p:txBody>
      </p:sp>
      <p:sp>
        <p:nvSpPr>
          <p:cNvPr id="47" name="Member role"/>
          <p:cNvSpPr txBox="1"/>
          <p:nvPr/>
        </p:nvSpPr>
        <p:spPr>
          <a:xfrm>
            <a:off x="8293608" y="41605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Inter Medium"/>
              </a:rPr>
              <a:t>Frontend UI/UX Lead</a:t>
            </a:r>
          </a:p>
        </p:txBody>
      </p:sp>
      <p:sp>
        <p:nvSpPr>
          <p:cNvPr id="48" name="Member detail"/>
          <p:cNvSpPr txBox="1"/>
          <p:nvPr/>
        </p:nvSpPr>
        <p:spPr>
          <a:xfrm>
            <a:off x="8293608" y="4379976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94A3B8"/>
                </a:solidFill>
                <a:latin typeface="Inter"/>
              </a:rPr>
              <a:t>React 19 · TypeScript · Material UI</a:t>
            </a:r>
          </a:p>
        </p:txBody>
      </p:sp>
      <p:sp>
        <p:nvSpPr>
          <p:cNvPr id="49" name="Member card"/>
          <p:cNvSpPr/>
          <p:nvPr/>
        </p:nvSpPr>
        <p:spPr>
          <a:xfrm>
            <a:off x="7452360" y="4809744"/>
            <a:ext cx="4236415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0" name="Avatar"/>
          <p:cNvSpPr/>
          <p:nvPr/>
        </p:nvSpPr>
        <p:spPr>
          <a:xfrm>
            <a:off x="7635240" y="5020056"/>
            <a:ext cx="512064" cy="512064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1" name="Initials"/>
          <p:cNvSpPr txBox="1"/>
          <p:nvPr/>
        </p:nvSpPr>
        <p:spPr>
          <a:xfrm>
            <a:off x="7635240" y="502005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Outfit"/>
              </a:rPr>
              <a:t>AM</a:t>
            </a:r>
          </a:p>
        </p:txBody>
      </p:sp>
      <p:sp>
        <p:nvSpPr>
          <p:cNvPr id="52" name="Member name"/>
          <p:cNvSpPr txBox="1"/>
          <p:nvPr/>
        </p:nvSpPr>
        <p:spPr>
          <a:xfrm>
            <a:off x="8293608" y="494690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6">
                <a:solidFill>
                  <a:srgbClr val="0F2942"/>
                </a:solidFill>
                <a:latin typeface="Plus Jakarta Sans"/>
              </a:rPr>
              <a:t>Anay Modi</a:t>
            </a:r>
          </a:p>
        </p:txBody>
      </p:sp>
      <p:sp>
        <p:nvSpPr>
          <p:cNvPr id="53" name="Chip"/>
          <p:cNvSpPr/>
          <p:nvPr/>
        </p:nvSpPr>
        <p:spPr>
          <a:xfrm>
            <a:off x="10963382" y="4965192"/>
            <a:ext cx="524226" cy="2468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4" name="Chip text"/>
          <p:cNvSpPr txBox="1"/>
          <p:nvPr/>
        </p:nvSpPr>
        <p:spPr>
          <a:xfrm>
            <a:off x="10963382" y="4965192"/>
            <a:ext cx="52422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I088</a:t>
            </a:r>
          </a:p>
        </p:txBody>
      </p:sp>
      <p:sp>
        <p:nvSpPr>
          <p:cNvPr id="55" name="Member role"/>
          <p:cNvSpPr txBox="1"/>
          <p:nvPr/>
        </p:nvSpPr>
        <p:spPr>
          <a:xfrm>
            <a:off x="8293608" y="523951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Inter Medium"/>
              </a:rPr>
              <a:t>Backend API &amp; Logic Lead</a:t>
            </a:r>
          </a:p>
        </p:txBody>
      </p:sp>
      <p:sp>
        <p:nvSpPr>
          <p:cNvPr id="56" name="Member detail"/>
          <p:cNvSpPr txBox="1"/>
          <p:nvPr/>
        </p:nvSpPr>
        <p:spPr>
          <a:xfrm>
            <a:off x="8293608" y="545896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94A3B8"/>
                </a:solidFill>
                <a:latin typeface="Inter"/>
              </a:rPr>
              <a:t>Spring Boot 3 · security · dispatch logic</a:t>
            </a:r>
          </a:p>
        </p:txBody>
      </p:sp>
      <p:sp>
        <p:nvSpPr>
          <p:cNvPr id="57" name="Submission note"/>
          <p:cNvSpPr txBox="1"/>
          <p:nvPr/>
        </p:nvSpPr>
        <p:spPr>
          <a:xfrm>
            <a:off x="7452360" y="605332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94A3B8"/>
                </a:solidFill>
                <a:latin typeface="Inter"/>
              </a:rPr>
              <a:t>Submitted for evaluation · 5 October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79069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7906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Domain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437437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Domain analysis and aerodrome topology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The Saphire International Masterplan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Modelled on CSMIA Mumbai: an X-shaped terminal with radial concourse limbs and parallel runways</a:t>
            </a:r>
          </a:p>
        </p:txBody>
      </p:sp>
      <p:sp>
        <p:nvSpPr>
          <p:cNvPr id="7" name="Icon tile"/>
          <p:cNvSpPr/>
          <p:nvPr/>
        </p:nvSpPr>
        <p:spPr>
          <a:xfrm>
            <a:off x="548640" y="1911096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8" name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54" y="1999610"/>
            <a:ext cx="225308" cy="225308"/>
          </a:xfrm>
          <a:prstGeom prst="rect">
            <a:avLst/>
          </a:prstGeom>
        </p:spPr>
      </p:pic>
      <p:sp>
        <p:nvSpPr>
          <p:cNvPr id="9" name="Spec row"/>
          <p:cNvSpPr txBox="1"/>
          <p:nvPr/>
        </p:nvSpPr>
        <p:spPr>
          <a:xfrm>
            <a:off x="1097280" y="1874520"/>
            <a:ext cx="4709160" cy="7900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 spc="-10">
                <a:solidFill>
                  <a:srgbClr val="0F2942"/>
                </a:solidFill>
                <a:latin typeface="Plus Jakarta Sans"/>
              </a:rPr>
              <a:t>Terminal Topography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X-shaped central terminal with radial concourse limbs (Concourses A, B and C in the live data).</a:t>
            </a:r>
          </a:p>
        </p:txBody>
      </p:sp>
      <p:sp>
        <p:nvSpPr>
          <p:cNvPr id="10" name="Icon tile"/>
          <p:cNvSpPr/>
          <p:nvPr/>
        </p:nvSpPr>
        <p:spPr>
          <a:xfrm>
            <a:off x="548640" y="2810866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1" name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4" y="2899380"/>
            <a:ext cx="225308" cy="225308"/>
          </a:xfrm>
          <a:prstGeom prst="rect">
            <a:avLst/>
          </a:prstGeom>
        </p:spPr>
      </p:pic>
      <p:sp>
        <p:nvSpPr>
          <p:cNvPr id="12" name="Spec row"/>
          <p:cNvSpPr txBox="1"/>
          <p:nvPr/>
        </p:nvSpPr>
        <p:spPr>
          <a:xfrm>
            <a:off x="1097280" y="2774290"/>
            <a:ext cx="4709160" cy="7900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 spc="-10">
                <a:solidFill>
                  <a:srgbClr val="0F2942"/>
                </a:solidFill>
                <a:latin typeface="Plus Jakarta Sans"/>
              </a:rPr>
              <a:t>Gates &amp; Stands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248 gates and 248 stands (71 remote), with boarding bridges, ground power and pre-conditioned air.</a:t>
            </a:r>
          </a:p>
        </p:txBody>
      </p:sp>
      <p:sp>
        <p:nvSpPr>
          <p:cNvPr id="13" name="Icon tile"/>
          <p:cNvSpPr/>
          <p:nvPr/>
        </p:nvSpPr>
        <p:spPr>
          <a:xfrm>
            <a:off x="548640" y="3710635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4" name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4" y="3799149"/>
            <a:ext cx="225308" cy="225308"/>
          </a:xfrm>
          <a:prstGeom prst="rect">
            <a:avLst/>
          </a:prstGeom>
        </p:spPr>
      </p:pic>
      <p:sp>
        <p:nvSpPr>
          <p:cNvPr id="15" name="Spec row"/>
          <p:cNvSpPr txBox="1"/>
          <p:nvPr/>
        </p:nvSpPr>
        <p:spPr>
          <a:xfrm>
            <a:off x="1097280" y="3674059"/>
            <a:ext cx="4709160" cy="7900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 spc="-10">
                <a:solidFill>
                  <a:srgbClr val="0F2942"/>
                </a:solidFill>
                <a:latin typeface="Plus Jakarta Sans"/>
              </a:rPr>
              <a:t>Parallel Runway System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Independent IFR arrivals and departures; each runway carries a live status such as CAT III.</a:t>
            </a:r>
          </a:p>
        </p:txBody>
      </p:sp>
      <p:sp>
        <p:nvSpPr>
          <p:cNvPr id="16" name="Icon tile"/>
          <p:cNvSpPr/>
          <p:nvPr/>
        </p:nvSpPr>
        <p:spPr>
          <a:xfrm>
            <a:off x="548640" y="4610405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7" name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4" y="4698919"/>
            <a:ext cx="225308" cy="225308"/>
          </a:xfrm>
          <a:prstGeom prst="rect">
            <a:avLst/>
          </a:prstGeom>
        </p:spPr>
      </p:pic>
      <p:sp>
        <p:nvSpPr>
          <p:cNvPr id="18" name="Spec row"/>
          <p:cNvSpPr txBox="1"/>
          <p:nvPr/>
        </p:nvSpPr>
        <p:spPr>
          <a:xfrm>
            <a:off x="1097280" y="4573829"/>
            <a:ext cx="4709160" cy="7900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 spc="-10">
                <a:solidFill>
                  <a:srgbClr val="0F2942"/>
                </a:solidFill>
                <a:latin typeface="Plus Jakarta Sans"/>
              </a:rPr>
              <a:t>Baggage Transit Corridors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Underground conveyors and tilt-tray sorters link check-in desks to aircraft stands.</a:t>
            </a:r>
          </a:p>
        </p:txBody>
      </p:sp>
      <p:sp>
        <p:nvSpPr>
          <p:cNvPr id="19" name="Icon tile"/>
          <p:cNvSpPr/>
          <p:nvPr/>
        </p:nvSpPr>
        <p:spPr>
          <a:xfrm>
            <a:off x="548640" y="5510174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0" name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54" y="5598688"/>
            <a:ext cx="225308" cy="225308"/>
          </a:xfrm>
          <a:prstGeom prst="rect">
            <a:avLst/>
          </a:prstGeom>
        </p:spPr>
      </p:pic>
      <p:sp>
        <p:nvSpPr>
          <p:cNvPr id="21" name="Spec row"/>
          <p:cNvSpPr txBox="1"/>
          <p:nvPr/>
        </p:nvSpPr>
        <p:spPr>
          <a:xfrm>
            <a:off x="1097280" y="5473598"/>
            <a:ext cx="4709160" cy="7900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 spc="-10">
                <a:solidFill>
                  <a:srgbClr val="0F2942"/>
                </a:solidFill>
                <a:latin typeface="Plus Jakarta Sans"/>
              </a:rPr>
              <a:t>Logistics &amp; Cargo City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Multi-bay freight terminal with HAZMAT vaults and customs staging.</a:t>
            </a:r>
          </a:p>
        </p:txBody>
      </p:sp>
      <p:pic>
        <p:nvPicPr>
          <p:cNvPr id="22" name="Masterplan photo" descr="Aerial render of the X-shaped terminal between parallel runways"/>
          <p:cNvPicPr>
            <a:picLocks noChangeAspect="1"/>
          </p:cNvPicPr>
          <p:nvPr/>
        </p:nvPicPr>
        <p:blipFill>
          <a:blip r:embed="rId7"/>
          <a:srcRect l="14634" r="14634"/>
          <a:stretch>
            <a:fillRect/>
          </a:stretch>
        </p:blipFill>
        <p:spPr>
          <a:xfrm>
            <a:off x="6080760" y="1874520"/>
            <a:ext cx="5562295" cy="4389120"/>
          </a:xfrm>
          <a:prstGeom prst="roundRect">
            <a:avLst>
              <a:gd name="adj" fmla="val 3333"/>
            </a:avLst>
          </a:prstGeom>
        </p:spPr>
      </p:pic>
      <p:sp>
        <p:nvSpPr>
          <p:cNvPr id="23" name="Chip backing"/>
          <p:cNvSpPr/>
          <p:nvPr/>
        </p:nvSpPr>
        <p:spPr>
          <a:xfrm>
            <a:off x="6281928" y="5769864"/>
            <a:ext cx="3324393" cy="292608"/>
          </a:xfrm>
          <a:prstGeom prst="roundRect">
            <a:avLst>
              <a:gd name="adj" fmla="val 50000"/>
            </a:avLst>
          </a:prstGeom>
          <a:solidFill>
            <a:srgbClr val="0F2942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" name="Chip"/>
          <p:cNvSpPr/>
          <p:nvPr/>
        </p:nvSpPr>
        <p:spPr>
          <a:xfrm>
            <a:off x="6281928" y="5769864"/>
            <a:ext cx="3324393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2000"/>
              </a:srgbClr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Chip text"/>
          <p:cNvSpPr txBox="1"/>
          <p:nvPr/>
        </p:nvSpPr>
        <p:spPr>
          <a:xfrm>
            <a:off x="6281928" y="5769864"/>
            <a:ext cx="3324393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E0F2FE"/>
                </a:solidFill>
                <a:latin typeface="Outfit SemiBold"/>
              </a:rPr>
              <a:t>Aerial masterplan · Saphire International (SPH)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27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02 / 22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685709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68570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01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44077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Requirement analysis and problem formulation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Problem Definition &amp; Operational Scope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Six pain points across traditional airport operations, and the platform that answers them</a:t>
            </a:r>
          </a:p>
        </p:txBody>
      </p:sp>
      <p:sp>
        <p:nvSpPr>
          <p:cNvPr id="7" name="Card"/>
          <p:cNvSpPr/>
          <p:nvPr/>
        </p:nvSpPr>
        <p:spPr>
          <a:xfrm>
            <a:off x="548640" y="1874520"/>
            <a:ext cx="3545769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8" name="Icon tile"/>
          <p:cNvSpPr/>
          <p:nvPr/>
        </p:nvSpPr>
        <p:spPr>
          <a:xfrm>
            <a:off x="749808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9" name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22" y="2164202"/>
            <a:ext cx="225308" cy="225308"/>
          </a:xfrm>
          <a:prstGeom prst="rect">
            <a:avLst/>
          </a:prstGeom>
        </p:spPr>
      </p:pic>
      <p:sp>
        <p:nvSpPr>
          <p:cNvPr id="10" name="Card title"/>
          <p:cNvSpPr txBox="1"/>
          <p:nvPr/>
        </p:nvSpPr>
        <p:spPr>
          <a:xfrm>
            <a:off x="1280160" y="203911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Operational Silos</a:t>
            </a:r>
          </a:p>
        </p:txBody>
      </p:sp>
      <p:sp>
        <p:nvSpPr>
          <p:cNvPr id="11" name="Card body"/>
          <p:cNvSpPr txBox="1"/>
          <p:nvPr/>
        </p:nvSpPr>
        <p:spPr>
          <a:xfrm>
            <a:off x="749808" y="2642616"/>
            <a:ext cx="3143433" cy="1110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Airlines, ground handlers, security and ATC run on separate systems, so updates arrive late and delays cascade.</a:t>
            </a:r>
          </a:p>
        </p:txBody>
      </p:sp>
      <p:sp>
        <p:nvSpPr>
          <p:cNvPr id="12" name="Card"/>
          <p:cNvSpPr/>
          <p:nvPr/>
        </p:nvSpPr>
        <p:spPr>
          <a:xfrm>
            <a:off x="4323009" y="1874520"/>
            <a:ext cx="3545769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3" name="Icon tile"/>
          <p:cNvSpPr/>
          <p:nvPr/>
        </p:nvSpPr>
        <p:spPr>
          <a:xfrm>
            <a:off x="4524177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4" name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691" y="2164202"/>
            <a:ext cx="225308" cy="225308"/>
          </a:xfrm>
          <a:prstGeom prst="rect">
            <a:avLst/>
          </a:prstGeom>
        </p:spPr>
      </p:pic>
      <p:sp>
        <p:nvSpPr>
          <p:cNvPr id="15" name="Card title"/>
          <p:cNvSpPr txBox="1"/>
          <p:nvPr/>
        </p:nvSpPr>
        <p:spPr>
          <a:xfrm>
            <a:off x="5054529" y="203911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Turnaround Bottlenecks</a:t>
            </a:r>
          </a:p>
        </p:txBody>
      </p:sp>
      <p:sp>
        <p:nvSpPr>
          <p:cNvPr id="16" name="Card body"/>
          <p:cNvSpPr txBox="1"/>
          <p:nvPr/>
        </p:nvSpPr>
        <p:spPr>
          <a:xfrm>
            <a:off x="4524177" y="2642616"/>
            <a:ext cx="3143433" cy="1110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Fuelling, catering, cleaning and baggage work have no shared schedule or real-time delay attribution.</a:t>
            </a:r>
          </a:p>
        </p:txBody>
      </p:sp>
      <p:sp>
        <p:nvSpPr>
          <p:cNvPr id="17" name="Card"/>
          <p:cNvSpPr/>
          <p:nvPr/>
        </p:nvSpPr>
        <p:spPr>
          <a:xfrm>
            <a:off x="8097286" y="1874520"/>
            <a:ext cx="3545769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8" name="Icon tile"/>
          <p:cNvSpPr/>
          <p:nvPr/>
        </p:nvSpPr>
        <p:spPr>
          <a:xfrm>
            <a:off x="8298454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9" name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968" y="2164202"/>
            <a:ext cx="225308" cy="225308"/>
          </a:xfrm>
          <a:prstGeom prst="rect">
            <a:avLst/>
          </a:prstGeom>
        </p:spPr>
      </p:pic>
      <p:sp>
        <p:nvSpPr>
          <p:cNvPr id="20" name="Card title"/>
          <p:cNvSpPr txBox="1"/>
          <p:nvPr/>
        </p:nvSpPr>
        <p:spPr>
          <a:xfrm>
            <a:off x="8828806" y="203911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Gate Allocation Conflicts</a:t>
            </a:r>
          </a:p>
        </p:txBody>
      </p:sp>
      <p:sp>
        <p:nvSpPr>
          <p:cNvPr id="21" name="Card body"/>
          <p:cNvSpPr txBox="1"/>
          <p:nvPr/>
        </p:nvSpPr>
        <p:spPr>
          <a:xfrm>
            <a:off x="8298454" y="2642616"/>
            <a:ext cx="3143433" cy="1110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Gates are assigned by hand without wingspan checks, risking unsafe stand use and clashes.</a:t>
            </a:r>
          </a:p>
        </p:txBody>
      </p:sp>
      <p:sp>
        <p:nvSpPr>
          <p:cNvPr id="22" name="Card"/>
          <p:cNvSpPr/>
          <p:nvPr/>
        </p:nvSpPr>
        <p:spPr>
          <a:xfrm>
            <a:off x="548640" y="4183380"/>
            <a:ext cx="3545769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3" name="Icon tile"/>
          <p:cNvSpPr/>
          <p:nvPr/>
        </p:nvSpPr>
        <p:spPr>
          <a:xfrm>
            <a:off x="749808" y="438454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4" name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22" y="4473062"/>
            <a:ext cx="225308" cy="225308"/>
          </a:xfrm>
          <a:prstGeom prst="rect">
            <a:avLst/>
          </a:prstGeom>
        </p:spPr>
      </p:pic>
      <p:sp>
        <p:nvSpPr>
          <p:cNvPr id="25" name="Card title"/>
          <p:cNvSpPr txBox="1"/>
          <p:nvPr/>
        </p:nvSpPr>
        <p:spPr>
          <a:xfrm>
            <a:off x="1280160" y="434797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Baggage Tracing Gaps</a:t>
            </a:r>
          </a:p>
        </p:txBody>
      </p:sp>
      <p:sp>
        <p:nvSpPr>
          <p:cNvPr id="26" name="Card body"/>
          <p:cNvSpPr txBox="1"/>
          <p:nvPr/>
        </p:nvSpPr>
        <p:spPr>
          <a:xfrm>
            <a:off x="749808" y="4951476"/>
            <a:ext cx="3143433" cy="1110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No end-to-end bag tag tracking from screening and sorting to the apron and reclaim belt.</a:t>
            </a:r>
          </a:p>
        </p:txBody>
      </p:sp>
      <p:sp>
        <p:nvSpPr>
          <p:cNvPr id="27" name="Card"/>
          <p:cNvSpPr/>
          <p:nvPr/>
        </p:nvSpPr>
        <p:spPr>
          <a:xfrm>
            <a:off x="4323009" y="4183380"/>
            <a:ext cx="3545769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8" name="Icon tile"/>
          <p:cNvSpPr/>
          <p:nvPr/>
        </p:nvSpPr>
        <p:spPr>
          <a:xfrm>
            <a:off x="4524177" y="438454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9" name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2691" y="4473062"/>
            <a:ext cx="225308" cy="225308"/>
          </a:xfrm>
          <a:prstGeom prst="rect">
            <a:avLst/>
          </a:prstGeom>
        </p:spPr>
      </p:pic>
      <p:sp>
        <p:nvSpPr>
          <p:cNvPr id="30" name="Card title"/>
          <p:cNvSpPr txBox="1"/>
          <p:nvPr/>
        </p:nvSpPr>
        <p:spPr>
          <a:xfrm>
            <a:off x="5054529" y="434797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Tariff Billing Leakage</a:t>
            </a:r>
          </a:p>
        </p:txBody>
      </p:sp>
      <p:sp>
        <p:nvSpPr>
          <p:cNvPr id="31" name="Card body"/>
          <p:cNvSpPr txBox="1"/>
          <p:nvPr/>
        </p:nvSpPr>
        <p:spPr>
          <a:xfrm>
            <a:off x="4524177" y="4951476"/>
            <a:ext cx="3143433" cy="1110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Landing, parking and aerobridge fees are consolidated by hand, which leaks revenue and delays invoices.</a:t>
            </a:r>
          </a:p>
        </p:txBody>
      </p:sp>
      <p:sp>
        <p:nvSpPr>
          <p:cNvPr id="32" name="Card"/>
          <p:cNvSpPr/>
          <p:nvPr/>
        </p:nvSpPr>
        <p:spPr>
          <a:xfrm>
            <a:off x="8097286" y="4183380"/>
            <a:ext cx="3545769" cy="2080260"/>
          </a:xfrm>
          <a:prstGeom prst="roundRect">
            <a:avLst>
              <a:gd name="adj" fmla="val 6153"/>
            </a:avLst>
          </a:prstGeom>
          <a:solidFill>
            <a:srgbClr val="0F2942"/>
          </a:solidFill>
          <a:ln>
            <a:noFill/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33" name="Icon tile"/>
          <p:cNvSpPr/>
          <p:nvPr/>
        </p:nvSpPr>
        <p:spPr>
          <a:xfrm>
            <a:off x="8298454" y="438454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34" name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6968" y="4473062"/>
            <a:ext cx="225308" cy="225308"/>
          </a:xfrm>
          <a:prstGeom prst="rect">
            <a:avLst/>
          </a:prstGeom>
        </p:spPr>
      </p:pic>
      <p:sp>
        <p:nvSpPr>
          <p:cNvPr id="35" name="Card title"/>
          <p:cNvSpPr txBox="1"/>
          <p:nvPr/>
        </p:nvSpPr>
        <p:spPr>
          <a:xfrm>
            <a:off x="8828806" y="434797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FFFFFF"/>
                </a:solidFill>
                <a:latin typeface="Plus Jakarta Sans"/>
              </a:rPr>
              <a:t>Solution: Saphire AOCS</a:t>
            </a:r>
          </a:p>
        </p:txBody>
      </p:sp>
      <p:sp>
        <p:nvSpPr>
          <p:cNvPr id="36" name="Card body"/>
          <p:cNvSpPr txBox="1"/>
          <p:nvPr/>
        </p:nvSpPr>
        <p:spPr>
          <a:xfrm>
            <a:off x="8298454" y="4951476"/>
            <a:ext cx="3143433" cy="1110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CBD5E1"/>
                </a:solidFill>
                <a:latin typeface="Inter"/>
              </a:rPr>
              <a:t>One real-time A-CDM platform linking check-in, turnaround, security clearance and billing on a single relational core.</a:t>
            </a:r>
          </a:p>
        </p:txBody>
      </p:sp>
      <p:sp>
        <p:nvSpPr>
          <p:cNvPr id="37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38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03 / 22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685709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68570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01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44077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Requirement analysis and agile specification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User Stories &amp; Acceptance Criteria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Four primary personas, each story paired with testable acceptance criteria</a:t>
            </a:r>
          </a:p>
        </p:txBody>
      </p:sp>
      <p:sp>
        <p:nvSpPr>
          <p:cNvPr id="7" name="Card"/>
          <p:cNvSpPr/>
          <p:nvPr/>
        </p:nvSpPr>
        <p:spPr>
          <a:xfrm>
            <a:off x="548640" y="1874520"/>
            <a:ext cx="2602108" cy="4389120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8" name="Icon tile"/>
          <p:cNvSpPr/>
          <p:nvPr/>
        </p:nvSpPr>
        <p:spPr>
          <a:xfrm>
            <a:off x="749808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9" name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22" y="2164202"/>
            <a:ext cx="225308" cy="225308"/>
          </a:xfrm>
          <a:prstGeom prst="rect">
            <a:avLst/>
          </a:prstGeom>
        </p:spPr>
      </p:pic>
      <p:sp>
        <p:nvSpPr>
          <p:cNvPr id="10" name="Chip"/>
          <p:cNvSpPr/>
          <p:nvPr/>
        </p:nvSpPr>
        <p:spPr>
          <a:xfrm>
            <a:off x="2281702" y="2139696"/>
            <a:ext cx="667878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1" name="Chip text"/>
          <p:cNvSpPr txBox="1"/>
          <p:nvPr/>
        </p:nvSpPr>
        <p:spPr>
          <a:xfrm>
            <a:off x="2281702" y="2139696"/>
            <a:ext cx="66787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AOCC</a:t>
            </a:r>
          </a:p>
        </p:txBody>
      </p:sp>
      <p:sp>
        <p:nvSpPr>
          <p:cNvPr id="12" name="Persona"/>
          <p:cNvSpPr txBox="1"/>
          <p:nvPr/>
        </p:nvSpPr>
        <p:spPr>
          <a:xfrm>
            <a:off x="749808" y="2624328"/>
            <a:ext cx="219977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AOCC Duty Controller</a:t>
            </a:r>
          </a:p>
        </p:txBody>
      </p:sp>
      <p:sp>
        <p:nvSpPr>
          <p:cNvPr id="13" name="Story"/>
          <p:cNvSpPr txBox="1"/>
          <p:nvPr/>
        </p:nvSpPr>
        <p:spPr>
          <a:xfrm>
            <a:off x="749808" y="2971800"/>
            <a:ext cx="2199772" cy="111611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“As an AOCC duty manager, I want live turnaround progress for every active flight, so I can spot delay risks early and log IATA delay codes.”</a:t>
            </a:r>
          </a:p>
        </p:txBody>
      </p:sp>
      <p:cxnSp>
        <p:nvCxnSpPr>
          <p:cNvPr id="14" name="Divider"/>
          <p:cNvCxnSpPr/>
          <p:nvPr/>
        </p:nvCxnSpPr>
        <p:spPr>
          <a:xfrm>
            <a:off x="749808" y="4215933"/>
            <a:ext cx="2199772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5" name="Criteria label"/>
          <p:cNvSpPr txBox="1"/>
          <p:nvPr/>
        </p:nvSpPr>
        <p:spPr>
          <a:xfrm>
            <a:off x="749808" y="4325661"/>
            <a:ext cx="21997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Acceptance criteria</a:t>
            </a:r>
          </a:p>
        </p:txBody>
      </p:sp>
      <p:sp>
        <p:nvSpPr>
          <p:cNvPr id="16" name="Criteria"/>
          <p:cNvSpPr txBox="1"/>
          <p:nvPr/>
        </p:nvSpPr>
        <p:spPr>
          <a:xfrm>
            <a:off x="749808" y="4599981"/>
            <a:ext cx="2199772" cy="14624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Clr>
                <a:srgbClr val="10B981"/>
              </a:buClr>
              <a:buSzPct val="100000"/>
              <a:buFont typeface="Inter"/>
              <a:buChar char="✓"/>
            </a:pPr>
            <a:r>
              <a:rPr sz="1200" b="0" i="0">
                <a:solidFill>
                  <a:srgbClr val="475569"/>
                </a:solidFill>
                <a:latin typeface="Inter"/>
              </a:rPr>
              <a:t>Progress per active flight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Clr>
                <a:srgbClr val="10B981"/>
              </a:buClr>
              <a:buSzPct val="100000"/>
              <a:buFont typeface="Inter"/>
              <a:buChar char="✓"/>
            </a:pPr>
            <a:r>
              <a:rPr sz="1200" b="0" i="0">
                <a:solidFill>
                  <a:srgbClr val="475569"/>
                </a:solidFill>
                <a:latin typeface="Inter"/>
              </a:rPr>
              <a:t>IATA delay codes on delays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ct val="100000"/>
              <a:buFont typeface="Inter"/>
              <a:buChar char="✓"/>
            </a:pPr>
            <a:r>
              <a:rPr sz="1200" b="0" i="0">
                <a:solidFill>
                  <a:srgbClr val="475569"/>
                </a:solidFill>
                <a:latin typeface="Inter"/>
              </a:rPr>
              <a:t>Delay log on the AOCC board</a:t>
            </a:r>
          </a:p>
        </p:txBody>
      </p:sp>
      <p:sp>
        <p:nvSpPr>
          <p:cNvPr id="17" name="Card"/>
          <p:cNvSpPr/>
          <p:nvPr/>
        </p:nvSpPr>
        <p:spPr>
          <a:xfrm>
            <a:off x="3379348" y="1874520"/>
            <a:ext cx="2602108" cy="4389120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8" name="Icon tile"/>
          <p:cNvSpPr/>
          <p:nvPr/>
        </p:nvSpPr>
        <p:spPr>
          <a:xfrm>
            <a:off x="3580516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9" name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030" y="2164202"/>
            <a:ext cx="225308" cy="225308"/>
          </a:xfrm>
          <a:prstGeom prst="rect">
            <a:avLst/>
          </a:prstGeom>
        </p:spPr>
      </p:pic>
      <p:sp>
        <p:nvSpPr>
          <p:cNvPr id="20" name="Chip"/>
          <p:cNvSpPr/>
          <p:nvPr/>
        </p:nvSpPr>
        <p:spPr>
          <a:xfrm>
            <a:off x="5233660" y="2139696"/>
            <a:ext cx="54662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" name="Chip text"/>
          <p:cNvSpPr txBox="1"/>
          <p:nvPr/>
        </p:nvSpPr>
        <p:spPr>
          <a:xfrm>
            <a:off x="5233660" y="2139696"/>
            <a:ext cx="5466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5803D"/>
                </a:solidFill>
                <a:latin typeface="Outfit SemiBold"/>
              </a:rPr>
              <a:t>DCS</a:t>
            </a:r>
          </a:p>
        </p:txBody>
      </p:sp>
      <p:sp>
        <p:nvSpPr>
          <p:cNvPr id="22" name="Persona"/>
          <p:cNvSpPr txBox="1"/>
          <p:nvPr/>
        </p:nvSpPr>
        <p:spPr>
          <a:xfrm>
            <a:off x="3580516" y="2624328"/>
            <a:ext cx="219977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Check-In Agent</a:t>
            </a:r>
          </a:p>
        </p:txBody>
      </p:sp>
      <p:sp>
        <p:nvSpPr>
          <p:cNvPr id="23" name="Story"/>
          <p:cNvSpPr txBox="1"/>
          <p:nvPr/>
        </p:nvSpPr>
        <p:spPr>
          <a:xfrm>
            <a:off x="3580516" y="2971800"/>
            <a:ext cx="2199772" cy="111611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“As a check-in agent, I want to find a booking by PNR, choose a seat on the cabin map and tag bags, so I can issue a boarding pass.”</a:t>
            </a:r>
          </a:p>
        </p:txBody>
      </p:sp>
      <p:cxnSp>
        <p:nvCxnSpPr>
          <p:cNvPr id="24" name="Divider"/>
          <p:cNvCxnSpPr/>
          <p:nvPr/>
        </p:nvCxnSpPr>
        <p:spPr>
          <a:xfrm>
            <a:off x="3580516" y="4215933"/>
            <a:ext cx="2199772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25" name="Criteria label"/>
          <p:cNvSpPr txBox="1"/>
          <p:nvPr/>
        </p:nvSpPr>
        <p:spPr>
          <a:xfrm>
            <a:off x="3580516" y="4325661"/>
            <a:ext cx="21997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Acceptance criteria</a:t>
            </a:r>
          </a:p>
        </p:txBody>
      </p:sp>
      <p:sp>
        <p:nvSpPr>
          <p:cNvPr id="26" name="Criteria"/>
          <p:cNvSpPr txBox="1"/>
          <p:nvPr/>
        </p:nvSpPr>
        <p:spPr>
          <a:xfrm>
            <a:off x="3580516" y="4599981"/>
            <a:ext cx="2199772" cy="14624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Clr>
                <a:srgbClr val="10B981"/>
              </a:buClr>
              <a:buSzPct val="100000"/>
              <a:buFont typeface="Inter"/>
              <a:buChar char="✓"/>
            </a:pPr>
            <a:r>
              <a:rPr sz="1200" b="0" i="0">
                <a:solidFill>
                  <a:srgbClr val="475569"/>
                </a:solidFill>
                <a:latin typeface="Inter"/>
              </a:rPr>
              <a:t>Lookup by PNR or passport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Clr>
                <a:srgbClr val="10B981"/>
              </a:buClr>
              <a:buSzPct val="100000"/>
              <a:buFont typeface="Inter"/>
              <a:buChar char="✓"/>
            </a:pPr>
            <a:r>
              <a:rPr sz="1200" b="0" i="0">
                <a:solidFill>
                  <a:srgbClr val="475569"/>
                </a:solidFill>
                <a:latin typeface="Inter"/>
              </a:rPr>
              <a:t>Seat clash returns 409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ct val="100000"/>
              <a:buFont typeface="Inter"/>
              <a:buChar char="✓"/>
            </a:pPr>
            <a:r>
              <a:rPr sz="1200" b="0" i="0">
                <a:solidFill>
                  <a:srgbClr val="475569"/>
                </a:solidFill>
                <a:latin typeface="Inter"/>
              </a:rPr>
              <a:t>BCBP barcode and bag tag</a:t>
            </a:r>
          </a:p>
        </p:txBody>
      </p:sp>
      <p:sp>
        <p:nvSpPr>
          <p:cNvPr id="27" name="Card"/>
          <p:cNvSpPr/>
          <p:nvPr/>
        </p:nvSpPr>
        <p:spPr>
          <a:xfrm>
            <a:off x="6210148" y="1874520"/>
            <a:ext cx="2602108" cy="4389120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8" name="Icon tile"/>
          <p:cNvSpPr/>
          <p:nvPr/>
        </p:nvSpPr>
        <p:spPr>
          <a:xfrm>
            <a:off x="6411316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9" name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830" y="2164202"/>
            <a:ext cx="225308" cy="225308"/>
          </a:xfrm>
          <a:prstGeom prst="rect">
            <a:avLst/>
          </a:prstGeom>
        </p:spPr>
      </p:pic>
      <p:sp>
        <p:nvSpPr>
          <p:cNvPr id="30" name="Chip"/>
          <p:cNvSpPr/>
          <p:nvPr/>
        </p:nvSpPr>
        <p:spPr>
          <a:xfrm>
            <a:off x="7889169" y="2139696"/>
            <a:ext cx="721919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Chip text"/>
          <p:cNvSpPr txBox="1"/>
          <p:nvPr/>
        </p:nvSpPr>
        <p:spPr>
          <a:xfrm>
            <a:off x="7889169" y="2139696"/>
            <a:ext cx="72191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B45309"/>
                </a:solidFill>
                <a:latin typeface="Outfit SemiBold"/>
              </a:rPr>
              <a:t>Airside</a:t>
            </a:r>
          </a:p>
        </p:txBody>
      </p:sp>
      <p:sp>
        <p:nvSpPr>
          <p:cNvPr id="32" name="Persona"/>
          <p:cNvSpPr txBox="1"/>
          <p:nvPr/>
        </p:nvSpPr>
        <p:spPr>
          <a:xfrm>
            <a:off x="6411316" y="2624328"/>
            <a:ext cx="219977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Airside Dispatcher</a:t>
            </a:r>
          </a:p>
        </p:txBody>
      </p:sp>
      <p:sp>
        <p:nvSpPr>
          <p:cNvPr id="33" name="Story"/>
          <p:cNvSpPr txBox="1"/>
          <p:nvPr/>
        </p:nvSpPr>
        <p:spPr>
          <a:xfrm>
            <a:off x="6411316" y="2971800"/>
            <a:ext cx="2199772" cy="111611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“As an airside officer, I want gate checks against aircraft wingspan, so a widebody is never parked at a gate that is too narrow.”</a:t>
            </a:r>
          </a:p>
        </p:txBody>
      </p:sp>
      <p:cxnSp>
        <p:nvCxnSpPr>
          <p:cNvPr id="34" name="Divider"/>
          <p:cNvCxnSpPr/>
          <p:nvPr/>
        </p:nvCxnSpPr>
        <p:spPr>
          <a:xfrm>
            <a:off x="6411316" y="4215933"/>
            <a:ext cx="2199772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35" name="Criteria label"/>
          <p:cNvSpPr txBox="1"/>
          <p:nvPr/>
        </p:nvSpPr>
        <p:spPr>
          <a:xfrm>
            <a:off x="6411316" y="4325661"/>
            <a:ext cx="21997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Acceptance criteria</a:t>
            </a:r>
          </a:p>
        </p:txBody>
      </p:sp>
      <p:sp>
        <p:nvSpPr>
          <p:cNvPr id="36" name="Criteria"/>
          <p:cNvSpPr txBox="1"/>
          <p:nvPr/>
        </p:nvSpPr>
        <p:spPr>
          <a:xfrm>
            <a:off x="6411316" y="4599981"/>
            <a:ext cx="2199772" cy="14624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Clr>
                <a:srgbClr val="10B981"/>
              </a:buClr>
              <a:buSzPct val="100000"/>
              <a:buFont typeface="Inter"/>
              <a:buChar char="✓"/>
            </a:pPr>
            <a:r>
              <a:rPr sz="1200" b="0" i="0">
                <a:solidFill>
                  <a:srgbClr val="475569"/>
                </a:solidFill>
                <a:latin typeface="Inter"/>
              </a:rPr>
              <a:t>Wingspan vs gate limit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Clr>
                <a:srgbClr val="10B981"/>
              </a:buClr>
              <a:buSzPct val="100000"/>
              <a:buFont typeface="Inter"/>
              <a:buChar char="✓"/>
            </a:pPr>
            <a:r>
              <a:rPr sz="1200" b="0" i="0">
                <a:solidFill>
                  <a:srgbClr val="475569"/>
                </a:solidFill>
                <a:latin typeface="Inter"/>
              </a:rPr>
              <a:t>Conflicts rejected with 409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ct val="100000"/>
              <a:buFont typeface="Inter"/>
              <a:buChar char="✓"/>
            </a:pPr>
            <a:r>
              <a:rPr sz="1200" b="0" i="0">
                <a:solidFill>
                  <a:srgbClr val="475569"/>
                </a:solidFill>
                <a:latin typeface="Inter"/>
              </a:rPr>
              <a:t>Live gate occupancy board</a:t>
            </a:r>
          </a:p>
        </p:txBody>
      </p:sp>
      <p:sp>
        <p:nvSpPr>
          <p:cNvPr id="37" name="Card"/>
          <p:cNvSpPr/>
          <p:nvPr/>
        </p:nvSpPr>
        <p:spPr>
          <a:xfrm>
            <a:off x="9040856" y="1874520"/>
            <a:ext cx="2602108" cy="4389120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38" name="Icon tile"/>
          <p:cNvSpPr/>
          <p:nvPr/>
        </p:nvSpPr>
        <p:spPr>
          <a:xfrm>
            <a:off x="9242024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39" name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538" y="2164202"/>
            <a:ext cx="225308" cy="225308"/>
          </a:xfrm>
          <a:prstGeom prst="rect">
            <a:avLst/>
          </a:prstGeom>
        </p:spPr>
      </p:pic>
      <p:sp>
        <p:nvSpPr>
          <p:cNvPr id="40" name="Chip"/>
          <p:cNvSpPr/>
          <p:nvPr/>
        </p:nvSpPr>
        <p:spPr>
          <a:xfrm>
            <a:off x="10788640" y="2139696"/>
            <a:ext cx="653156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1" name="Chip text"/>
          <p:cNvSpPr txBox="1"/>
          <p:nvPr/>
        </p:nvSpPr>
        <p:spPr>
          <a:xfrm>
            <a:off x="10788640" y="2139696"/>
            <a:ext cx="65315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Public</a:t>
            </a:r>
          </a:p>
        </p:txBody>
      </p:sp>
      <p:sp>
        <p:nvSpPr>
          <p:cNvPr id="42" name="Persona"/>
          <p:cNvSpPr txBox="1"/>
          <p:nvPr/>
        </p:nvSpPr>
        <p:spPr>
          <a:xfrm>
            <a:off x="9242024" y="2624328"/>
            <a:ext cx="219977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Passenger</a:t>
            </a:r>
          </a:p>
        </p:txBody>
      </p:sp>
      <p:sp>
        <p:nvSpPr>
          <p:cNvPr id="43" name="Story"/>
          <p:cNvSpPr txBox="1"/>
          <p:nvPr/>
        </p:nvSpPr>
        <p:spPr>
          <a:xfrm>
            <a:off x="9242024" y="2971800"/>
            <a:ext cx="2199772" cy="111611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“As a passenger, I want live flight status, baggage tracking and online lost-and-found reports without needing an account.”</a:t>
            </a:r>
          </a:p>
        </p:txBody>
      </p:sp>
      <p:cxnSp>
        <p:nvCxnSpPr>
          <p:cNvPr id="44" name="Divider"/>
          <p:cNvCxnSpPr/>
          <p:nvPr/>
        </p:nvCxnSpPr>
        <p:spPr>
          <a:xfrm>
            <a:off x="9242024" y="4215933"/>
            <a:ext cx="2199772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45" name="Criteria label"/>
          <p:cNvSpPr txBox="1"/>
          <p:nvPr/>
        </p:nvSpPr>
        <p:spPr>
          <a:xfrm>
            <a:off x="9242024" y="4325661"/>
            <a:ext cx="219977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Acceptance criteria</a:t>
            </a:r>
          </a:p>
        </p:txBody>
      </p:sp>
      <p:sp>
        <p:nvSpPr>
          <p:cNvPr id="46" name="Criteria"/>
          <p:cNvSpPr txBox="1"/>
          <p:nvPr/>
        </p:nvSpPr>
        <p:spPr>
          <a:xfrm>
            <a:off x="9242024" y="4599981"/>
            <a:ext cx="2199772" cy="14624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Clr>
                <a:srgbClr val="10B981"/>
              </a:buClr>
              <a:buSzPct val="100000"/>
              <a:buFont typeface="Inter"/>
              <a:buChar char="✓"/>
            </a:pPr>
            <a:r>
              <a:rPr sz="1200" b="0" i="0">
                <a:solidFill>
                  <a:srgbClr val="475569"/>
                </a:solidFill>
                <a:latin typeface="Inter"/>
              </a:rPr>
              <a:t>No login for public pages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400"/>
              </a:spcAft>
              <a:buClr>
                <a:srgbClr val="10B981"/>
              </a:buClr>
              <a:buSzPct val="100000"/>
              <a:buFont typeface="Inter"/>
              <a:buChar char="✓"/>
            </a:pPr>
            <a:r>
              <a:rPr sz="1200" b="0" i="0">
                <a:solidFill>
                  <a:srgbClr val="475569"/>
                </a:solidFill>
                <a:latin typeface="Inter"/>
              </a:rPr>
              <a:t>Tracked inquiry tickets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ct val="100000"/>
              <a:buFont typeface="Inter"/>
              <a:buChar char="✓"/>
            </a:pPr>
            <a:r>
              <a:rPr sz="1200" b="0" i="0">
                <a:solidFill>
                  <a:srgbClr val="475569"/>
                </a:solidFill>
                <a:latin typeface="Inter"/>
              </a:rPr>
              <a:t>Claimant contacts private</a:t>
            </a:r>
          </a:p>
        </p:txBody>
      </p:sp>
      <p:sp>
        <p:nvSpPr>
          <p:cNvPr id="47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48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04 / 22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685709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68570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01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44077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System architectural specifications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Non-Functional Requirements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Targets for performance, availability, security and data integrity</a:t>
            </a:r>
          </a:p>
        </p:txBody>
      </p:sp>
      <p:sp>
        <p:nvSpPr>
          <p:cNvPr id="7" name="Card"/>
          <p:cNvSpPr/>
          <p:nvPr/>
        </p:nvSpPr>
        <p:spPr>
          <a:xfrm>
            <a:off x="548640" y="1874520"/>
            <a:ext cx="5432908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8" name="Icon tile"/>
          <p:cNvSpPr/>
          <p:nvPr/>
        </p:nvSpPr>
        <p:spPr>
          <a:xfrm>
            <a:off x="749808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9" name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22" y="2164202"/>
            <a:ext cx="225308" cy="225308"/>
          </a:xfrm>
          <a:prstGeom prst="rect">
            <a:avLst/>
          </a:prstGeom>
        </p:spPr>
      </p:pic>
      <p:sp>
        <p:nvSpPr>
          <p:cNvPr id="10" name="Card title"/>
          <p:cNvSpPr txBox="1"/>
          <p:nvPr/>
        </p:nvSpPr>
        <p:spPr>
          <a:xfrm>
            <a:off x="1280160" y="2039112"/>
            <a:ext cx="31286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Performance &amp; Latency</a:t>
            </a:r>
          </a:p>
        </p:txBody>
      </p:sp>
      <p:sp>
        <p:nvSpPr>
          <p:cNvPr id="11" name="Card stat"/>
          <p:cNvSpPr txBox="1"/>
          <p:nvPr/>
        </p:nvSpPr>
        <p:spPr>
          <a:xfrm>
            <a:off x="4317340" y="2039112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0284C7"/>
                </a:solidFill>
                <a:latin typeface="Outfit ExtraBold"/>
              </a:rPr>
              <a:t>350 ms</a:t>
            </a:r>
          </a:p>
        </p:txBody>
      </p:sp>
      <p:sp>
        <p:nvSpPr>
          <p:cNvPr id="12" name="Card bullets"/>
          <p:cNvSpPr txBox="1"/>
          <p:nvPr/>
        </p:nvSpPr>
        <p:spPr>
          <a:xfrm>
            <a:off x="749808" y="2679192"/>
            <a:ext cx="5030572" cy="1074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REST responses within 350 ms at 1,000 concurrent requests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Every paged endpoint capped at 100 rows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Indexes on foreign keys and common filter columns</a:t>
            </a:r>
          </a:p>
        </p:txBody>
      </p:sp>
      <p:sp>
        <p:nvSpPr>
          <p:cNvPr id="13" name="Card"/>
          <p:cNvSpPr/>
          <p:nvPr/>
        </p:nvSpPr>
        <p:spPr>
          <a:xfrm>
            <a:off x="6210148" y="1874520"/>
            <a:ext cx="5432908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4" name="Icon tile"/>
          <p:cNvSpPr/>
          <p:nvPr/>
        </p:nvSpPr>
        <p:spPr>
          <a:xfrm>
            <a:off x="6411316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5" name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0" y="2164202"/>
            <a:ext cx="225308" cy="225308"/>
          </a:xfrm>
          <a:prstGeom prst="rect">
            <a:avLst/>
          </a:prstGeom>
        </p:spPr>
      </p:pic>
      <p:sp>
        <p:nvSpPr>
          <p:cNvPr id="16" name="Card title"/>
          <p:cNvSpPr txBox="1"/>
          <p:nvPr/>
        </p:nvSpPr>
        <p:spPr>
          <a:xfrm>
            <a:off x="6941668" y="2039112"/>
            <a:ext cx="31286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Availability &amp; Scalability</a:t>
            </a:r>
          </a:p>
        </p:txBody>
      </p:sp>
      <p:sp>
        <p:nvSpPr>
          <p:cNvPr id="17" name="Card stat"/>
          <p:cNvSpPr txBox="1"/>
          <p:nvPr/>
        </p:nvSpPr>
        <p:spPr>
          <a:xfrm>
            <a:off x="9978847" y="2039112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0284C7"/>
                </a:solidFill>
                <a:latin typeface="Outfit ExtraBold"/>
              </a:rPr>
              <a:t>99.9%</a:t>
            </a:r>
          </a:p>
        </p:txBody>
      </p:sp>
      <p:sp>
        <p:nvSpPr>
          <p:cNvPr id="18" name="Card bullets"/>
          <p:cNvSpPr txBox="1"/>
          <p:nvPr/>
        </p:nvSpPr>
        <p:spPr>
          <a:xfrm>
            <a:off x="6411316" y="2679192"/>
            <a:ext cx="5030572" cy="1074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Stateless Spring Boot services behind Nginx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Multi-stage Docker images and Docker Compose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Health endpoint for container checks</a:t>
            </a:r>
          </a:p>
        </p:txBody>
      </p:sp>
      <p:sp>
        <p:nvSpPr>
          <p:cNvPr id="19" name="Card"/>
          <p:cNvSpPr/>
          <p:nvPr/>
        </p:nvSpPr>
        <p:spPr>
          <a:xfrm>
            <a:off x="548640" y="4183380"/>
            <a:ext cx="5432908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0" name="Icon tile"/>
          <p:cNvSpPr/>
          <p:nvPr/>
        </p:nvSpPr>
        <p:spPr>
          <a:xfrm>
            <a:off x="749808" y="438454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1" name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22" y="4473062"/>
            <a:ext cx="225308" cy="225308"/>
          </a:xfrm>
          <a:prstGeom prst="rect">
            <a:avLst/>
          </a:prstGeom>
        </p:spPr>
      </p:pic>
      <p:sp>
        <p:nvSpPr>
          <p:cNvPr id="22" name="Card title"/>
          <p:cNvSpPr txBox="1"/>
          <p:nvPr/>
        </p:nvSpPr>
        <p:spPr>
          <a:xfrm>
            <a:off x="1280160" y="4347972"/>
            <a:ext cx="31286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Security &amp; Sessions</a:t>
            </a:r>
          </a:p>
        </p:txBody>
      </p:sp>
      <p:sp>
        <p:nvSpPr>
          <p:cNvPr id="23" name="Card stat"/>
          <p:cNvSpPr txBox="1"/>
          <p:nvPr/>
        </p:nvSpPr>
        <p:spPr>
          <a:xfrm>
            <a:off x="4317340" y="4347972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0284C7"/>
                </a:solidFill>
                <a:latin typeface="Outfit ExtraBold"/>
              </a:rPr>
              <a:t>HS256</a:t>
            </a:r>
          </a:p>
        </p:txBody>
      </p:sp>
      <p:sp>
        <p:nvSpPr>
          <p:cNvPr id="24" name="Card bullets"/>
          <p:cNvSpPr txBox="1"/>
          <p:nvPr/>
        </p:nvSpPr>
        <p:spPr>
          <a:xfrm>
            <a:off x="749808" y="4988052"/>
            <a:ext cx="5030572" cy="1074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Signed JWT carries a session ID checked on every request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One active session per user, revocable server-side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BCrypt password hashes, never serialised</a:t>
            </a:r>
          </a:p>
        </p:txBody>
      </p:sp>
      <p:sp>
        <p:nvSpPr>
          <p:cNvPr id="25" name="Card"/>
          <p:cNvSpPr/>
          <p:nvPr/>
        </p:nvSpPr>
        <p:spPr>
          <a:xfrm>
            <a:off x="6210148" y="4183380"/>
            <a:ext cx="5432908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6" name="Icon tile"/>
          <p:cNvSpPr/>
          <p:nvPr/>
        </p:nvSpPr>
        <p:spPr>
          <a:xfrm>
            <a:off x="6411316" y="438454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7" name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830" y="4473062"/>
            <a:ext cx="225308" cy="225308"/>
          </a:xfrm>
          <a:prstGeom prst="rect">
            <a:avLst/>
          </a:prstGeom>
        </p:spPr>
      </p:pic>
      <p:sp>
        <p:nvSpPr>
          <p:cNvPr id="28" name="Card title"/>
          <p:cNvSpPr txBox="1"/>
          <p:nvPr/>
        </p:nvSpPr>
        <p:spPr>
          <a:xfrm>
            <a:off x="6941668" y="4347972"/>
            <a:ext cx="31286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Data Integrity</a:t>
            </a:r>
          </a:p>
        </p:txBody>
      </p:sp>
      <p:sp>
        <p:nvSpPr>
          <p:cNvPr id="29" name="Card stat"/>
          <p:cNvSpPr txBox="1"/>
          <p:nvPr/>
        </p:nvSpPr>
        <p:spPr>
          <a:xfrm>
            <a:off x="9978847" y="4347972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0284C7"/>
                </a:solidFill>
                <a:latin typeface="Outfit ExtraBold"/>
              </a:rPr>
              <a:t>3NF</a:t>
            </a:r>
          </a:p>
        </p:txBody>
      </p:sp>
      <p:sp>
        <p:nvSpPr>
          <p:cNvPr id="30" name="Card bullets"/>
          <p:cNvSpPr txBox="1"/>
          <p:nvPr/>
        </p:nvSpPr>
        <p:spPr>
          <a:xfrm>
            <a:off x="6411316" y="4988052"/>
            <a:ext cx="5030572" cy="1074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43 tables in third normal form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ON DELETE RESTRICT on clearance and audit records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Unique seat per flight; wingspan checked per gate</a:t>
            </a:r>
          </a:p>
        </p:txBody>
      </p:sp>
      <p:sp>
        <p:nvSpPr>
          <p:cNvPr id="31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32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05 / 22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12866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1286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02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71234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Software process methodology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Agile Scrum Process &amp; Sprint Cadence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Five two-week sprints, from domain modelling to an integrated, tested release</a:t>
            </a:r>
          </a:p>
        </p:txBody>
      </p:sp>
      <p:cxnSp>
        <p:nvCxnSpPr>
          <p:cNvPr id="7" name="Timeline"/>
          <p:cNvCxnSpPr/>
          <p:nvPr/>
        </p:nvCxnSpPr>
        <p:spPr>
          <a:xfrm>
            <a:off x="1566642" y="2057400"/>
            <a:ext cx="9058412" cy="0"/>
          </a:xfrm>
          <a:prstGeom prst="line">
            <a:avLst/>
          </a:prstGeom>
          <a:ln w="25400">
            <a:solidFill>
              <a:srgbClr val="CBD5E1"/>
            </a:solidFill>
          </a:ln>
        </p:spPr>
      </p:cxnSp>
      <p:sp>
        <p:nvSpPr>
          <p:cNvPr id="8" name="Step badge"/>
          <p:cNvSpPr/>
          <p:nvPr/>
        </p:nvSpPr>
        <p:spPr>
          <a:xfrm>
            <a:off x="1402050" y="1892808"/>
            <a:ext cx="329184" cy="329184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Step number"/>
          <p:cNvSpPr txBox="1"/>
          <p:nvPr/>
        </p:nvSpPr>
        <p:spPr>
          <a:xfrm>
            <a:off x="1402050" y="18928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10" name="Card"/>
          <p:cNvSpPr/>
          <p:nvPr/>
        </p:nvSpPr>
        <p:spPr>
          <a:xfrm>
            <a:off x="548640" y="2441448"/>
            <a:ext cx="2036003" cy="3822192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1" name="Sprint label"/>
          <p:cNvSpPr txBox="1"/>
          <p:nvPr/>
        </p:nvSpPr>
        <p:spPr>
          <a:xfrm>
            <a:off x="749808" y="2642616"/>
            <a:ext cx="163366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369A1"/>
                </a:solidFill>
                <a:latin typeface="Outfit SemiBold"/>
              </a:rPr>
              <a:t>Sprint 1 · Weeks 1-2</a:t>
            </a:r>
          </a:p>
        </p:txBody>
      </p:sp>
      <p:sp>
        <p:nvSpPr>
          <p:cNvPr id="12" name="Sprint title"/>
          <p:cNvSpPr txBox="1"/>
          <p:nvPr/>
        </p:nvSpPr>
        <p:spPr>
          <a:xfrm>
            <a:off x="749808" y="2916936"/>
            <a:ext cx="163366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0">
                <a:solidFill>
                  <a:srgbClr val="0F2942"/>
                </a:solidFill>
                <a:latin typeface="Plus Jakarta Sans"/>
              </a:rPr>
              <a:t>Domain &amp; Relational Core</a:t>
            </a:r>
          </a:p>
        </p:txBody>
      </p:sp>
      <p:sp>
        <p:nvSpPr>
          <p:cNvPr id="13" name="Sprint work"/>
          <p:cNvSpPr txBox="1"/>
          <p:nvPr/>
        </p:nvSpPr>
        <p:spPr>
          <a:xfrm>
            <a:off x="749808" y="3602736"/>
            <a:ext cx="1633667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3NF relational schema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Flyway migrations V1 to V3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Aerodrome seed data</a:t>
            </a:r>
          </a:p>
        </p:txBody>
      </p:sp>
      <p:sp>
        <p:nvSpPr>
          <p:cNvPr id="14" name="Chip"/>
          <p:cNvSpPr/>
          <p:nvPr/>
        </p:nvSpPr>
        <p:spPr>
          <a:xfrm>
            <a:off x="749808" y="5788152"/>
            <a:ext cx="1038118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" name="Chip text"/>
          <p:cNvSpPr txBox="1"/>
          <p:nvPr/>
        </p:nvSpPr>
        <p:spPr>
          <a:xfrm>
            <a:off x="749808" y="5788152"/>
            <a:ext cx="103811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Schema live</a:t>
            </a:r>
          </a:p>
        </p:txBody>
      </p:sp>
      <p:sp>
        <p:nvSpPr>
          <p:cNvPr id="16" name="Step badge"/>
          <p:cNvSpPr/>
          <p:nvPr/>
        </p:nvSpPr>
        <p:spPr>
          <a:xfrm>
            <a:off x="3666653" y="1892808"/>
            <a:ext cx="329184" cy="329184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" name="Step number"/>
          <p:cNvSpPr txBox="1"/>
          <p:nvPr/>
        </p:nvSpPr>
        <p:spPr>
          <a:xfrm>
            <a:off x="3666653" y="18928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8" name="Card"/>
          <p:cNvSpPr/>
          <p:nvPr/>
        </p:nvSpPr>
        <p:spPr>
          <a:xfrm>
            <a:off x="2813243" y="2441448"/>
            <a:ext cx="2036003" cy="3822192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9" name="Sprint label"/>
          <p:cNvSpPr txBox="1"/>
          <p:nvPr/>
        </p:nvSpPr>
        <p:spPr>
          <a:xfrm>
            <a:off x="3014411" y="2642616"/>
            <a:ext cx="163366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369A1"/>
                </a:solidFill>
                <a:latin typeface="Outfit SemiBold"/>
              </a:rPr>
              <a:t>Sprint 2 · Weeks 3-4</a:t>
            </a:r>
          </a:p>
        </p:txBody>
      </p:sp>
      <p:sp>
        <p:nvSpPr>
          <p:cNvPr id="20" name="Sprint title"/>
          <p:cNvSpPr txBox="1"/>
          <p:nvPr/>
        </p:nvSpPr>
        <p:spPr>
          <a:xfrm>
            <a:off x="3014411" y="2916936"/>
            <a:ext cx="163366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0">
                <a:solidFill>
                  <a:srgbClr val="0F2942"/>
                </a:solidFill>
                <a:latin typeface="Plus Jakarta Sans"/>
              </a:rPr>
              <a:t>Backend Services &amp; Auth</a:t>
            </a:r>
          </a:p>
        </p:txBody>
      </p:sp>
      <p:sp>
        <p:nvSpPr>
          <p:cNvPr id="21" name="Sprint work"/>
          <p:cNvSpPr txBox="1"/>
          <p:nvPr/>
        </p:nvSpPr>
        <p:spPr>
          <a:xfrm>
            <a:off x="3014411" y="3602736"/>
            <a:ext cx="1633667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Spring Boot REST controllers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JWT and role-based access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Sessions and login lockout</a:t>
            </a:r>
          </a:p>
        </p:txBody>
      </p:sp>
      <p:sp>
        <p:nvSpPr>
          <p:cNvPr id="22" name="Chip"/>
          <p:cNvSpPr/>
          <p:nvPr/>
        </p:nvSpPr>
        <p:spPr>
          <a:xfrm>
            <a:off x="3014411" y="5788152"/>
            <a:ext cx="1047811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Chip text"/>
          <p:cNvSpPr txBox="1"/>
          <p:nvPr/>
        </p:nvSpPr>
        <p:spPr>
          <a:xfrm>
            <a:off x="3014411" y="5788152"/>
            <a:ext cx="104781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Secured API</a:t>
            </a:r>
          </a:p>
        </p:txBody>
      </p:sp>
      <p:sp>
        <p:nvSpPr>
          <p:cNvPr id="24" name="Step badge"/>
          <p:cNvSpPr/>
          <p:nvPr/>
        </p:nvSpPr>
        <p:spPr>
          <a:xfrm>
            <a:off x="5931256" y="1892808"/>
            <a:ext cx="329184" cy="329184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Step number"/>
          <p:cNvSpPr txBox="1"/>
          <p:nvPr/>
        </p:nvSpPr>
        <p:spPr>
          <a:xfrm>
            <a:off x="5931256" y="18928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26" name="Card"/>
          <p:cNvSpPr/>
          <p:nvPr/>
        </p:nvSpPr>
        <p:spPr>
          <a:xfrm>
            <a:off x="5077846" y="2441448"/>
            <a:ext cx="2036003" cy="3822192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7" name="Sprint label"/>
          <p:cNvSpPr txBox="1"/>
          <p:nvPr/>
        </p:nvSpPr>
        <p:spPr>
          <a:xfrm>
            <a:off x="5279014" y="2642616"/>
            <a:ext cx="163366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369A1"/>
                </a:solidFill>
                <a:latin typeface="Outfit SemiBold"/>
              </a:rPr>
              <a:t>Sprint 3 · Weeks 5-6</a:t>
            </a:r>
          </a:p>
        </p:txBody>
      </p:sp>
      <p:sp>
        <p:nvSpPr>
          <p:cNvPr id="28" name="Sprint title"/>
          <p:cNvSpPr txBox="1"/>
          <p:nvPr/>
        </p:nvSpPr>
        <p:spPr>
          <a:xfrm>
            <a:off x="5279014" y="2916936"/>
            <a:ext cx="163366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0">
                <a:solidFill>
                  <a:srgbClr val="0F2942"/>
                </a:solidFill>
                <a:latin typeface="Plus Jakarta Sans"/>
              </a:rPr>
              <a:t>UI Scaffolding &amp; Public Portal</a:t>
            </a:r>
          </a:p>
        </p:txBody>
      </p:sp>
      <p:sp>
        <p:nvSpPr>
          <p:cNvPr id="29" name="Sprint work"/>
          <p:cNvSpPr txBox="1"/>
          <p:nvPr/>
        </p:nvSpPr>
        <p:spPr>
          <a:xfrm>
            <a:off x="5279014" y="3602736"/>
            <a:ext cx="1633667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React 19, TypeScript, Vite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7 public passenger pages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Website design tokens</a:t>
            </a:r>
          </a:p>
        </p:txBody>
      </p:sp>
      <p:sp>
        <p:nvSpPr>
          <p:cNvPr id="30" name="Chip"/>
          <p:cNvSpPr/>
          <p:nvPr/>
        </p:nvSpPr>
        <p:spPr>
          <a:xfrm>
            <a:off x="5279014" y="5788152"/>
            <a:ext cx="1091336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Chip text"/>
          <p:cNvSpPr txBox="1"/>
          <p:nvPr/>
        </p:nvSpPr>
        <p:spPr>
          <a:xfrm>
            <a:off x="5279014" y="5788152"/>
            <a:ext cx="1091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Portal online</a:t>
            </a:r>
          </a:p>
        </p:txBody>
      </p:sp>
      <p:sp>
        <p:nvSpPr>
          <p:cNvPr id="32" name="Step badge"/>
          <p:cNvSpPr/>
          <p:nvPr/>
        </p:nvSpPr>
        <p:spPr>
          <a:xfrm>
            <a:off x="8195859" y="1892808"/>
            <a:ext cx="329184" cy="329184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" name="Step number"/>
          <p:cNvSpPr txBox="1"/>
          <p:nvPr/>
        </p:nvSpPr>
        <p:spPr>
          <a:xfrm>
            <a:off x="8195859" y="18928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34" name="Card"/>
          <p:cNvSpPr/>
          <p:nvPr/>
        </p:nvSpPr>
        <p:spPr>
          <a:xfrm>
            <a:off x="7342449" y="2441448"/>
            <a:ext cx="2036003" cy="3822192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35" name="Sprint label"/>
          <p:cNvSpPr txBox="1"/>
          <p:nvPr/>
        </p:nvSpPr>
        <p:spPr>
          <a:xfrm>
            <a:off x="7543617" y="2642616"/>
            <a:ext cx="163366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369A1"/>
                </a:solidFill>
                <a:latin typeface="Outfit SemiBold"/>
              </a:rPr>
              <a:t>Sprint 4 · Weeks 7-8</a:t>
            </a:r>
          </a:p>
        </p:txBody>
      </p:sp>
      <p:sp>
        <p:nvSpPr>
          <p:cNvPr id="36" name="Sprint title"/>
          <p:cNvSpPr txBox="1"/>
          <p:nvPr/>
        </p:nvSpPr>
        <p:spPr>
          <a:xfrm>
            <a:off x="7543617" y="2916936"/>
            <a:ext cx="163366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0">
                <a:solidFill>
                  <a:srgbClr val="0F2942"/>
                </a:solidFill>
                <a:latin typeface="Plus Jakarta Sans"/>
              </a:rPr>
              <a:t>Role Consoles &amp; Workflows</a:t>
            </a:r>
          </a:p>
        </p:txBody>
      </p:sp>
      <p:sp>
        <p:nvSpPr>
          <p:cNvPr id="37" name="Sprint work"/>
          <p:cNvSpPr txBox="1"/>
          <p:nvPr/>
        </p:nvSpPr>
        <p:spPr>
          <a:xfrm>
            <a:off x="7543617" y="3602736"/>
            <a:ext cx="1633667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9 staff dashboards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Check-in and boarding desk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AOCC turnaround board</a:t>
            </a:r>
          </a:p>
        </p:txBody>
      </p:sp>
      <p:sp>
        <p:nvSpPr>
          <p:cNvPr id="38" name="Chip"/>
          <p:cNvSpPr/>
          <p:nvPr/>
        </p:nvSpPr>
        <p:spPr>
          <a:xfrm>
            <a:off x="7543617" y="5788152"/>
            <a:ext cx="1262421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9" name="Chip text"/>
          <p:cNvSpPr txBox="1"/>
          <p:nvPr/>
        </p:nvSpPr>
        <p:spPr>
          <a:xfrm>
            <a:off x="7543617" y="5788152"/>
            <a:ext cx="126242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Consoles ready</a:t>
            </a:r>
          </a:p>
        </p:txBody>
      </p:sp>
      <p:sp>
        <p:nvSpPr>
          <p:cNvPr id="40" name="Step badge"/>
          <p:cNvSpPr/>
          <p:nvPr/>
        </p:nvSpPr>
        <p:spPr>
          <a:xfrm>
            <a:off x="10460462" y="1892808"/>
            <a:ext cx="329184" cy="329184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1" name="Step number"/>
          <p:cNvSpPr txBox="1"/>
          <p:nvPr/>
        </p:nvSpPr>
        <p:spPr>
          <a:xfrm>
            <a:off x="10460462" y="18928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5</a:t>
            </a:r>
          </a:p>
        </p:txBody>
      </p:sp>
      <p:sp>
        <p:nvSpPr>
          <p:cNvPr id="42" name="Card"/>
          <p:cNvSpPr/>
          <p:nvPr/>
        </p:nvSpPr>
        <p:spPr>
          <a:xfrm>
            <a:off x="9607052" y="2441448"/>
            <a:ext cx="2036003" cy="3822192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3" name="Sprint label"/>
          <p:cNvSpPr txBox="1"/>
          <p:nvPr/>
        </p:nvSpPr>
        <p:spPr>
          <a:xfrm>
            <a:off x="9808220" y="2642616"/>
            <a:ext cx="163366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369A1"/>
                </a:solidFill>
                <a:latin typeface="Outfit SemiBold"/>
              </a:rPr>
              <a:t>Sprint 5 · Weeks 9-10</a:t>
            </a:r>
          </a:p>
        </p:txBody>
      </p:sp>
      <p:sp>
        <p:nvSpPr>
          <p:cNvPr id="44" name="Sprint title"/>
          <p:cNvSpPr txBox="1"/>
          <p:nvPr/>
        </p:nvSpPr>
        <p:spPr>
          <a:xfrm>
            <a:off x="9808220" y="2916936"/>
            <a:ext cx="163366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0">
                <a:solidFill>
                  <a:srgbClr val="0F2942"/>
                </a:solidFill>
                <a:latin typeface="Plus Jakarta Sans"/>
              </a:rPr>
              <a:t>Integration, Testing &amp; Deploy</a:t>
            </a:r>
          </a:p>
        </p:txBody>
      </p:sp>
      <p:sp>
        <p:nvSpPr>
          <p:cNvPr id="45" name="Sprint work"/>
          <p:cNvSpPr txBox="1"/>
          <p:nvPr/>
        </p:nvSpPr>
        <p:spPr>
          <a:xfrm>
            <a:off x="9808220" y="3602736"/>
            <a:ext cx="1633667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Live API wiring end to end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109 automated tests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Docker Compose and CI</a:t>
            </a:r>
          </a:p>
        </p:txBody>
      </p:sp>
      <p:sp>
        <p:nvSpPr>
          <p:cNvPr id="46" name="Chip"/>
          <p:cNvSpPr/>
          <p:nvPr/>
        </p:nvSpPr>
        <p:spPr>
          <a:xfrm>
            <a:off x="9808220" y="5788152"/>
            <a:ext cx="769376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7" name="Chip text"/>
          <p:cNvSpPr txBox="1"/>
          <p:nvPr/>
        </p:nvSpPr>
        <p:spPr>
          <a:xfrm>
            <a:off x="9808220" y="5788152"/>
            <a:ext cx="76937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5803D"/>
                </a:solidFill>
                <a:latin typeface="Outfit SemiBold"/>
              </a:rPr>
              <a:t>Release</a:t>
            </a:r>
          </a:p>
        </p:txBody>
      </p:sp>
      <p:sp>
        <p:nvSpPr>
          <p:cNvPr id="48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49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06 / 22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12409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1240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03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70777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Object-oriented modelling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UML Use Case Model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One system boundary, eight actors and the include and extend relationships between use cases</a:t>
            </a:r>
          </a:p>
        </p:txBody>
      </p:sp>
      <p:sp>
        <p:nvSpPr>
          <p:cNvPr id="7" name="Diagram card"/>
          <p:cNvSpPr/>
          <p:nvPr/>
        </p:nvSpPr>
        <p:spPr>
          <a:xfrm>
            <a:off x="548640" y="1874520"/>
            <a:ext cx="6376477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pic>
        <p:nvPicPr>
          <p:cNvPr id="8" name="Diagram" descr="UML use case diagram of the Airport Operations Coordination 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155502"/>
            <a:ext cx="6083869" cy="3827156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7153717" y="1874520"/>
            <a:ext cx="4489338" cy="179222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0" name="Card title"/>
          <p:cNvSpPr txBox="1"/>
          <p:nvPr/>
        </p:nvSpPr>
        <p:spPr>
          <a:xfrm>
            <a:off x="7354885" y="2075688"/>
            <a:ext cx="408700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Actors</a:t>
            </a:r>
          </a:p>
        </p:txBody>
      </p:sp>
      <p:sp>
        <p:nvSpPr>
          <p:cNvPr id="11" name="Chip"/>
          <p:cNvSpPr/>
          <p:nvPr/>
        </p:nvSpPr>
        <p:spPr>
          <a:xfrm>
            <a:off x="8616574" y="2075688"/>
            <a:ext cx="2825313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2" name="Chip text"/>
          <p:cNvSpPr txBox="1"/>
          <p:nvPr/>
        </p:nvSpPr>
        <p:spPr>
          <a:xfrm>
            <a:off x="8616574" y="2075688"/>
            <a:ext cx="2825313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8 actors · 10 RBAC roles in the database</a:t>
            </a:r>
          </a:p>
        </p:txBody>
      </p:sp>
      <p:sp>
        <p:nvSpPr>
          <p:cNvPr id="13" name="Actor list"/>
          <p:cNvSpPr txBox="1"/>
          <p:nvPr/>
        </p:nvSpPr>
        <p:spPr>
          <a:xfrm>
            <a:off x="7354885" y="2478024"/>
            <a:ext cx="1952061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Passenger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Check-in agent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Security officer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Baggage handler</a:t>
            </a:r>
          </a:p>
        </p:txBody>
      </p:sp>
      <p:sp>
        <p:nvSpPr>
          <p:cNvPr id="14" name="Actor list"/>
          <p:cNvSpPr txBox="1"/>
          <p:nvPr/>
        </p:nvSpPr>
        <p:spPr>
          <a:xfrm>
            <a:off x="9489826" y="2478024"/>
            <a:ext cx="1952061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AOCC manager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Airside dispatcher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Ground supervisor</a:t>
            </a:r>
          </a:p>
          <a:p>
            <a:pPr marL="173736" indent="-17373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475569"/>
                </a:solidFill>
                <a:latin typeface="Inter"/>
              </a:rPr>
              <a:t>Billing and admin</a:t>
            </a:r>
          </a:p>
        </p:txBody>
      </p:sp>
      <p:sp>
        <p:nvSpPr>
          <p:cNvPr id="15" name="Card"/>
          <p:cNvSpPr/>
          <p:nvPr/>
        </p:nvSpPr>
        <p:spPr>
          <a:xfrm>
            <a:off x="7153717" y="3895344"/>
            <a:ext cx="4489338" cy="236829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6" name="Card title"/>
          <p:cNvSpPr txBox="1"/>
          <p:nvPr/>
        </p:nvSpPr>
        <p:spPr>
          <a:xfrm>
            <a:off x="7354885" y="4096512"/>
            <a:ext cx="408700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Relationships</a:t>
            </a:r>
          </a:p>
        </p:txBody>
      </p:sp>
      <p:sp>
        <p:nvSpPr>
          <p:cNvPr id="17" name="Chip"/>
          <p:cNvSpPr/>
          <p:nvPr/>
        </p:nvSpPr>
        <p:spPr>
          <a:xfrm>
            <a:off x="7354885" y="4507992"/>
            <a:ext cx="905256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Chip text"/>
          <p:cNvSpPr txBox="1"/>
          <p:nvPr/>
        </p:nvSpPr>
        <p:spPr>
          <a:xfrm>
            <a:off x="7354885" y="4507992"/>
            <a:ext cx="90525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«include»</a:t>
            </a:r>
          </a:p>
        </p:txBody>
      </p:sp>
      <p:sp>
        <p:nvSpPr>
          <p:cNvPr id="19" name="Relationship"/>
          <p:cNvSpPr txBox="1"/>
          <p:nvPr/>
        </p:nvSpPr>
        <p:spPr>
          <a:xfrm>
            <a:off x="8388157" y="4480560"/>
            <a:ext cx="3053730" cy="358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F2942"/>
                </a:solidFill>
                <a:latin typeface="Inter Medium"/>
              </a:rPr>
              <a:t>Process Pax Check-In</a:t>
            </a:r>
            <a:r>
              <a:rPr sz="1100" b="0" i="0">
                <a:solidFill>
                  <a:srgbClr val="475569"/>
                </a:solidFill>
                <a:latin typeface="Inter"/>
              </a:rPr>
              <a:t>  →  Select Seat Map</a:t>
            </a:r>
          </a:p>
        </p:txBody>
      </p:sp>
      <p:sp>
        <p:nvSpPr>
          <p:cNvPr id="20" name="Chip"/>
          <p:cNvSpPr/>
          <p:nvPr/>
        </p:nvSpPr>
        <p:spPr>
          <a:xfrm>
            <a:off x="7354885" y="4903470"/>
            <a:ext cx="905256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" name="Chip text"/>
          <p:cNvSpPr txBox="1"/>
          <p:nvPr/>
        </p:nvSpPr>
        <p:spPr>
          <a:xfrm>
            <a:off x="7354885" y="4903470"/>
            <a:ext cx="90525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«include»</a:t>
            </a:r>
          </a:p>
        </p:txBody>
      </p:sp>
      <p:sp>
        <p:nvSpPr>
          <p:cNvPr id="22" name="Relationship"/>
          <p:cNvSpPr txBox="1"/>
          <p:nvPr/>
        </p:nvSpPr>
        <p:spPr>
          <a:xfrm>
            <a:off x="8388157" y="4876038"/>
            <a:ext cx="3053730" cy="358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F2942"/>
                </a:solidFill>
                <a:latin typeface="Inter Medium"/>
              </a:rPr>
              <a:t>Process Pax Check-In</a:t>
            </a:r>
            <a:r>
              <a:rPr sz="1100" b="0" i="0">
                <a:solidFill>
                  <a:srgbClr val="475569"/>
                </a:solidFill>
                <a:latin typeface="Inter"/>
              </a:rPr>
              <a:t>  →  Issue IATA Pass &amp; Tag</a:t>
            </a:r>
          </a:p>
        </p:txBody>
      </p:sp>
      <p:sp>
        <p:nvSpPr>
          <p:cNvPr id="23" name="Chip"/>
          <p:cNvSpPr/>
          <p:nvPr/>
        </p:nvSpPr>
        <p:spPr>
          <a:xfrm>
            <a:off x="7354885" y="5298948"/>
            <a:ext cx="905256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" name="Chip text"/>
          <p:cNvSpPr txBox="1"/>
          <p:nvPr/>
        </p:nvSpPr>
        <p:spPr>
          <a:xfrm>
            <a:off x="7354885" y="5298948"/>
            <a:ext cx="90525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«extend»</a:t>
            </a:r>
          </a:p>
        </p:txBody>
      </p:sp>
      <p:sp>
        <p:nvSpPr>
          <p:cNvPr id="25" name="Relationship"/>
          <p:cNvSpPr txBox="1"/>
          <p:nvPr/>
        </p:nvSpPr>
        <p:spPr>
          <a:xfrm>
            <a:off x="8388157" y="5271516"/>
            <a:ext cx="3053730" cy="358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F2942"/>
                </a:solidFill>
                <a:latin typeface="Inter Medium"/>
              </a:rPr>
              <a:t>Detect Wingspan Conflict</a:t>
            </a:r>
            <a:r>
              <a:rPr sz="1100" b="0" i="0">
                <a:solidFill>
                  <a:srgbClr val="475569"/>
                </a:solidFill>
                <a:latin typeface="Inter"/>
              </a:rPr>
              <a:t>  →  Assign Gate &amp; Stand</a:t>
            </a:r>
          </a:p>
        </p:txBody>
      </p:sp>
      <p:sp>
        <p:nvSpPr>
          <p:cNvPr id="26" name="Chip"/>
          <p:cNvSpPr/>
          <p:nvPr/>
        </p:nvSpPr>
        <p:spPr>
          <a:xfrm>
            <a:off x="7354885" y="5694426"/>
            <a:ext cx="905256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Chip text"/>
          <p:cNvSpPr txBox="1"/>
          <p:nvPr/>
        </p:nvSpPr>
        <p:spPr>
          <a:xfrm>
            <a:off x="7354885" y="5694426"/>
            <a:ext cx="90525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«extend»</a:t>
            </a:r>
          </a:p>
        </p:txBody>
      </p:sp>
      <p:sp>
        <p:nvSpPr>
          <p:cNvPr id="28" name="Relationship"/>
          <p:cNvSpPr txBox="1"/>
          <p:nvPr/>
        </p:nvSpPr>
        <p:spPr>
          <a:xfrm>
            <a:off x="8388157" y="5666994"/>
            <a:ext cx="3053730" cy="358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F2942"/>
                </a:solidFill>
                <a:latin typeface="Inter Medium"/>
              </a:rPr>
              <a:t>Log IATA Delay Code</a:t>
            </a:r>
            <a:r>
              <a:rPr sz="1100" b="0" i="0">
                <a:solidFill>
                  <a:srgbClr val="475569"/>
                </a:solidFill>
                <a:latin typeface="Inter"/>
              </a:rPr>
              <a:t>  →  Dispatch Turnaround</a:t>
            </a:r>
          </a:p>
        </p:txBody>
      </p:sp>
      <p:sp>
        <p:nvSpPr>
          <p:cNvPr id="29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30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07 / 22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12409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1240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03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70777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Use case specifications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Use Case Specifications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Actors, preconditions, main flow, postconditions and the exception path for two core operations</a:t>
            </a:r>
          </a:p>
        </p:txBody>
      </p:sp>
      <p:sp>
        <p:nvSpPr>
          <p:cNvPr id="7" name="Card"/>
          <p:cNvSpPr/>
          <p:nvPr/>
        </p:nvSpPr>
        <p:spPr>
          <a:xfrm>
            <a:off x="548640" y="1874520"/>
            <a:ext cx="5432908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8" name="Chip"/>
          <p:cNvSpPr/>
          <p:nvPr/>
        </p:nvSpPr>
        <p:spPr>
          <a:xfrm>
            <a:off x="749808" y="2093976"/>
            <a:ext cx="600486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Chip text"/>
          <p:cNvSpPr txBox="1"/>
          <p:nvPr/>
        </p:nvSpPr>
        <p:spPr>
          <a:xfrm>
            <a:off x="749808" y="2093976"/>
            <a:ext cx="60048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UC-05</a:t>
            </a:r>
          </a:p>
        </p:txBody>
      </p:sp>
      <p:sp>
        <p:nvSpPr>
          <p:cNvPr id="10" name="Card title"/>
          <p:cNvSpPr txBox="1"/>
          <p:nvPr/>
        </p:nvSpPr>
        <p:spPr>
          <a:xfrm>
            <a:off x="1499616" y="2029968"/>
            <a:ext cx="428076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DCS Check-In</a:t>
            </a:r>
          </a:p>
        </p:txBody>
      </p:sp>
      <p:sp>
        <p:nvSpPr>
          <p:cNvPr id="11" name="Field label"/>
          <p:cNvSpPr txBox="1"/>
          <p:nvPr/>
        </p:nvSpPr>
        <p:spPr>
          <a:xfrm>
            <a:off x="749808" y="2528316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Actor</a:t>
            </a:r>
          </a:p>
        </p:txBody>
      </p:sp>
      <p:sp>
        <p:nvSpPr>
          <p:cNvPr id="12" name="Field value"/>
          <p:cNvSpPr txBox="1"/>
          <p:nvPr/>
        </p:nvSpPr>
        <p:spPr>
          <a:xfrm>
            <a:off x="1828800" y="2514600"/>
            <a:ext cx="3951580" cy="2214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Check-in agent (CHECKIN_AGENT role)</a:t>
            </a:r>
          </a:p>
        </p:txBody>
      </p:sp>
      <p:sp>
        <p:nvSpPr>
          <p:cNvPr id="13" name="Field label"/>
          <p:cNvSpPr txBox="1"/>
          <p:nvPr/>
        </p:nvSpPr>
        <p:spPr>
          <a:xfrm>
            <a:off x="749808" y="2848356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Preconditions</a:t>
            </a:r>
          </a:p>
        </p:txBody>
      </p:sp>
      <p:sp>
        <p:nvSpPr>
          <p:cNvPr id="14" name="Field value"/>
          <p:cNvSpPr txBox="1"/>
          <p:nvPr/>
        </p:nvSpPr>
        <p:spPr>
          <a:xfrm>
            <a:off x="1828800" y="2834640"/>
            <a:ext cx="3951580" cy="4246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Flight is SCHEDULED or BOARDING; the counter is assigned</a:t>
            </a:r>
          </a:p>
        </p:txBody>
      </p:sp>
      <p:sp>
        <p:nvSpPr>
          <p:cNvPr id="15" name="Field label"/>
          <p:cNvSpPr txBox="1"/>
          <p:nvPr/>
        </p:nvSpPr>
        <p:spPr>
          <a:xfrm>
            <a:off x="749808" y="3355299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Main flow</a:t>
            </a:r>
          </a:p>
        </p:txBody>
      </p:sp>
      <p:sp>
        <p:nvSpPr>
          <p:cNvPr id="16" name="Field value"/>
          <p:cNvSpPr txBox="1"/>
          <p:nvPr/>
        </p:nvSpPr>
        <p:spPr>
          <a:xfrm>
            <a:off x="1828800" y="3341583"/>
            <a:ext cx="3951580" cy="15930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9456" indent="-21945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369A1"/>
              </a:buClr>
              <a:buSzPct val="100000"/>
              <a:buFont typeface="Outfit SemiBold"/>
              <a:buAutoNum type="arabicPlain"/>
            </a:pPr>
            <a:r>
              <a:rPr sz="1200" b="0" i="0">
                <a:solidFill>
                  <a:srgbClr val="475569"/>
                </a:solidFill>
                <a:latin typeface="Inter"/>
              </a:rPr>
              <a:t>Agent searches by PNR or passport number</a:t>
            </a:r>
          </a:p>
          <a:p>
            <a:pPr marL="219456" indent="-21945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369A1"/>
              </a:buClr>
              <a:buSzPct val="100000"/>
              <a:buFont typeface="Outfit SemiBold"/>
              <a:buAutoNum type="arabicPlain"/>
            </a:pPr>
            <a:r>
              <a:rPr sz="1200" b="0" i="0">
                <a:solidFill>
                  <a:srgbClr val="475569"/>
                </a:solidFill>
                <a:latin typeface="Inter"/>
              </a:rPr>
              <a:t>System returns the traveller and flight segment</a:t>
            </a:r>
          </a:p>
          <a:p>
            <a:pPr marL="219456" indent="-21945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369A1"/>
              </a:buClr>
              <a:buSzPct val="100000"/>
              <a:buFont typeface="Outfit SemiBold"/>
              <a:buAutoNum type="arabicPlain"/>
            </a:pPr>
            <a:r>
              <a:rPr sz="1200" b="0" i="0">
                <a:solidFill>
                  <a:srgbClr val="475569"/>
                </a:solidFill>
                <a:latin typeface="Inter"/>
              </a:rPr>
              <a:t>Agent picks a free seat on the cabin map</a:t>
            </a:r>
          </a:p>
          <a:p>
            <a:pPr marL="219456" indent="-21945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369A1"/>
              </a:buClr>
              <a:buSzPct val="100000"/>
              <a:buFont typeface="Outfit SemiBold"/>
              <a:buAutoNum type="arabicPlain"/>
            </a:pPr>
            <a:r>
              <a:rPr sz="1200" b="0" i="0">
                <a:solidFill>
                  <a:srgbClr val="475569"/>
                </a:solidFill>
                <a:latin typeface="Inter"/>
              </a:rPr>
              <a:t>System saves the pass: ticket number and IATA BCBP barcode data</a:t>
            </a:r>
          </a:p>
          <a:p>
            <a:pPr marL="219456" indent="-21945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ct val="100000"/>
              <a:buFont typeface="Outfit SemiBold"/>
              <a:buAutoNum type="arabicPlain"/>
            </a:pPr>
            <a:r>
              <a:rPr sz="1200" b="0" i="0">
                <a:solidFill>
                  <a:srgbClr val="475569"/>
                </a:solidFill>
                <a:latin typeface="Inter"/>
              </a:rPr>
              <a:t>Agent tags each bag: 10-digit tag and a check-in scan event</a:t>
            </a:r>
          </a:p>
        </p:txBody>
      </p:sp>
      <p:sp>
        <p:nvSpPr>
          <p:cNvPr id="17" name="Field label"/>
          <p:cNvSpPr txBox="1"/>
          <p:nvPr/>
        </p:nvSpPr>
        <p:spPr>
          <a:xfrm>
            <a:off x="749808" y="5030754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Postconditions</a:t>
            </a:r>
          </a:p>
        </p:txBody>
      </p:sp>
      <p:sp>
        <p:nvSpPr>
          <p:cNvPr id="18" name="Field value"/>
          <p:cNvSpPr txBox="1"/>
          <p:nvPr/>
        </p:nvSpPr>
        <p:spPr>
          <a:xfrm>
            <a:off x="1828800" y="5017038"/>
            <a:ext cx="3951580" cy="4246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Seat taken, boarding pass issued, bags tagged and scanned</a:t>
            </a:r>
          </a:p>
        </p:txBody>
      </p:sp>
      <p:sp>
        <p:nvSpPr>
          <p:cNvPr id="19" name="Exception box"/>
          <p:cNvSpPr/>
          <p:nvPr/>
        </p:nvSpPr>
        <p:spPr>
          <a:xfrm>
            <a:off x="749808" y="5586984"/>
            <a:ext cx="5030572" cy="475488"/>
          </a:xfrm>
          <a:prstGeom prst="roundRect">
            <a:avLst>
              <a:gd name="adj" fmla="val 1923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Exception"/>
          <p:cNvSpPr txBox="1"/>
          <p:nvPr/>
        </p:nvSpPr>
        <p:spPr>
          <a:xfrm>
            <a:off x="896112" y="5586984"/>
            <a:ext cx="4737964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91C1C"/>
                </a:solidFill>
                <a:latin typeface="Outfit SemiBold"/>
              </a:rPr>
              <a:t>Exception E1   </a:t>
            </a:r>
            <a:r>
              <a:rPr sz="1200" b="0" i="0">
                <a:solidFill>
                  <a:srgbClr val="B91C1C"/>
                </a:solidFill>
                <a:latin typeface="Inter"/>
              </a:rPr>
              <a:t>Seat already taken: HTTP 409 Conflict and nothing is saved</a:t>
            </a:r>
          </a:p>
        </p:txBody>
      </p:sp>
      <p:sp>
        <p:nvSpPr>
          <p:cNvPr id="21" name="Card"/>
          <p:cNvSpPr/>
          <p:nvPr/>
        </p:nvSpPr>
        <p:spPr>
          <a:xfrm>
            <a:off x="6210148" y="1874520"/>
            <a:ext cx="5432908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2" name="Chip"/>
          <p:cNvSpPr/>
          <p:nvPr/>
        </p:nvSpPr>
        <p:spPr>
          <a:xfrm>
            <a:off x="6411316" y="2093976"/>
            <a:ext cx="600486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Chip text"/>
          <p:cNvSpPr txBox="1"/>
          <p:nvPr/>
        </p:nvSpPr>
        <p:spPr>
          <a:xfrm>
            <a:off x="6411316" y="2093976"/>
            <a:ext cx="60048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UC-03</a:t>
            </a:r>
          </a:p>
        </p:txBody>
      </p:sp>
      <p:sp>
        <p:nvSpPr>
          <p:cNvPr id="24" name="Card title"/>
          <p:cNvSpPr txBox="1"/>
          <p:nvPr/>
        </p:nvSpPr>
        <p:spPr>
          <a:xfrm>
            <a:off x="7161124" y="2029968"/>
            <a:ext cx="428076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Gate Allocation</a:t>
            </a:r>
          </a:p>
        </p:txBody>
      </p:sp>
      <p:sp>
        <p:nvSpPr>
          <p:cNvPr id="25" name="Field label"/>
          <p:cNvSpPr txBox="1"/>
          <p:nvPr/>
        </p:nvSpPr>
        <p:spPr>
          <a:xfrm>
            <a:off x="6411316" y="2528316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Actor</a:t>
            </a:r>
          </a:p>
        </p:txBody>
      </p:sp>
      <p:sp>
        <p:nvSpPr>
          <p:cNvPr id="26" name="Field value"/>
          <p:cNvSpPr txBox="1"/>
          <p:nvPr/>
        </p:nvSpPr>
        <p:spPr>
          <a:xfrm>
            <a:off x="7490308" y="2514600"/>
            <a:ext cx="3951580" cy="2214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Airside dispatcher or AOCC manager</a:t>
            </a:r>
          </a:p>
        </p:txBody>
      </p:sp>
      <p:sp>
        <p:nvSpPr>
          <p:cNvPr id="27" name="Field label"/>
          <p:cNvSpPr txBox="1"/>
          <p:nvPr/>
        </p:nvSpPr>
        <p:spPr>
          <a:xfrm>
            <a:off x="6411316" y="2848356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Preconditions</a:t>
            </a:r>
          </a:p>
        </p:txBody>
      </p:sp>
      <p:sp>
        <p:nvSpPr>
          <p:cNvPr id="28" name="Field value"/>
          <p:cNvSpPr txBox="1"/>
          <p:nvPr/>
        </p:nvSpPr>
        <p:spPr>
          <a:xfrm>
            <a:off x="7490308" y="2834640"/>
            <a:ext cx="3951580" cy="2214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Flight is scheduled; the target gate is active</a:t>
            </a:r>
          </a:p>
        </p:txBody>
      </p:sp>
      <p:sp>
        <p:nvSpPr>
          <p:cNvPr id="29" name="Field label"/>
          <p:cNvSpPr txBox="1"/>
          <p:nvPr/>
        </p:nvSpPr>
        <p:spPr>
          <a:xfrm>
            <a:off x="6411316" y="3168396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Main flow</a:t>
            </a:r>
          </a:p>
        </p:txBody>
      </p:sp>
      <p:sp>
        <p:nvSpPr>
          <p:cNvPr id="30" name="Field value"/>
          <p:cNvSpPr txBox="1"/>
          <p:nvPr/>
        </p:nvSpPr>
        <p:spPr>
          <a:xfrm>
            <a:off x="7490308" y="3154680"/>
            <a:ext cx="3951580" cy="1186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9456" indent="-21945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369A1"/>
              </a:buClr>
              <a:buSzPct val="100000"/>
              <a:buFont typeface="Outfit SemiBold"/>
              <a:buAutoNum type="arabicPlain"/>
            </a:pPr>
            <a:r>
              <a:rPr sz="1200" b="0" i="0">
                <a:solidFill>
                  <a:srgbClr val="475569"/>
                </a:solidFill>
                <a:latin typeface="Inter"/>
              </a:rPr>
              <a:t>Dispatcher selects a flight and a target gate</a:t>
            </a:r>
          </a:p>
          <a:p>
            <a:pPr marL="219456" indent="-21945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369A1"/>
              </a:buClr>
              <a:buSzPct val="100000"/>
              <a:buFont typeface="Outfit SemiBold"/>
              <a:buAutoNum type="arabicPlain"/>
            </a:pPr>
            <a:r>
              <a:rPr sz="1200" b="0" i="0">
                <a:solidFill>
                  <a:srgbClr val="475569"/>
                </a:solidFill>
                <a:latin typeface="Inter"/>
              </a:rPr>
              <a:t>System locks the gate row, then the flight row</a:t>
            </a:r>
          </a:p>
          <a:p>
            <a:pPr marL="219456" indent="-21945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369A1"/>
              </a:buClr>
              <a:buSzPct val="100000"/>
              <a:buFont typeface="Outfit SemiBold"/>
              <a:buAutoNum type="arabicPlain"/>
            </a:pPr>
            <a:r>
              <a:rPr sz="1200" b="0" i="0">
                <a:solidFill>
                  <a:srgbClr val="475569"/>
                </a:solidFill>
                <a:latin typeface="Inter"/>
              </a:rPr>
              <a:t>Aircraft wingspan is checked against the gate limit</a:t>
            </a:r>
          </a:p>
          <a:p>
            <a:pPr marL="219456" indent="-219456" algn="l">
              <a:lnSpc>
                <a:spcPts val="1600"/>
              </a:lnSpc>
              <a:spcBef>
                <a:spcPts val="0"/>
              </a:spcBef>
              <a:spcAft>
                <a:spcPts val="300"/>
              </a:spcAft>
              <a:buClr>
                <a:srgbClr val="0369A1"/>
              </a:buClr>
              <a:buSzPct val="100000"/>
              <a:buFont typeface="Outfit SemiBold"/>
              <a:buAutoNum type="arabicPlain"/>
            </a:pPr>
            <a:r>
              <a:rPr sz="1200" b="0" i="0">
                <a:solidFill>
                  <a:srgbClr val="475569"/>
                </a:solidFill>
                <a:latin typeface="Inter"/>
              </a:rPr>
              <a:t>Time window is checked against flights at that gate</a:t>
            </a:r>
          </a:p>
          <a:p>
            <a:pPr marL="219456" indent="-219456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ct val="100000"/>
              <a:buFont typeface="Outfit SemiBold"/>
              <a:buAutoNum type="arabicPlain"/>
            </a:pPr>
            <a:r>
              <a:rPr sz="1200" b="0" i="0">
                <a:solidFill>
                  <a:srgbClr val="475569"/>
                </a:solidFill>
                <a:latin typeface="Inter"/>
              </a:rPr>
              <a:t>gate_id is saved on the flight</a:t>
            </a:r>
          </a:p>
        </p:txBody>
      </p:sp>
      <p:sp>
        <p:nvSpPr>
          <p:cNvPr id="31" name="Field label"/>
          <p:cNvSpPr txBox="1"/>
          <p:nvPr/>
        </p:nvSpPr>
        <p:spPr>
          <a:xfrm>
            <a:off x="6411316" y="4437400"/>
            <a:ext cx="107899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Postconditions</a:t>
            </a:r>
          </a:p>
        </p:txBody>
      </p:sp>
      <p:sp>
        <p:nvSpPr>
          <p:cNvPr id="32" name="Field value"/>
          <p:cNvSpPr txBox="1"/>
          <p:nvPr/>
        </p:nvSpPr>
        <p:spPr>
          <a:xfrm>
            <a:off x="7490308" y="4423684"/>
            <a:ext cx="3951580" cy="2214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Gate saved on the flight; boards update</a:t>
            </a:r>
          </a:p>
        </p:txBody>
      </p:sp>
      <p:sp>
        <p:nvSpPr>
          <p:cNvPr id="33" name="Exception box"/>
          <p:cNvSpPr/>
          <p:nvPr/>
        </p:nvSpPr>
        <p:spPr>
          <a:xfrm>
            <a:off x="6411316" y="5586984"/>
            <a:ext cx="5030572" cy="475488"/>
          </a:xfrm>
          <a:prstGeom prst="roundRect">
            <a:avLst>
              <a:gd name="adj" fmla="val 1923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" name="Exception"/>
          <p:cNvSpPr txBox="1"/>
          <p:nvPr/>
        </p:nvSpPr>
        <p:spPr>
          <a:xfrm>
            <a:off x="6557620" y="5586984"/>
            <a:ext cx="4737964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91C1C"/>
                </a:solidFill>
                <a:latin typeface="Outfit SemiBold"/>
              </a:rPr>
              <a:t>Exception E1   </a:t>
            </a:r>
            <a:r>
              <a:rPr sz="1200" b="0" i="0">
                <a:solidFill>
                  <a:srgbClr val="B91C1C"/>
                </a:solidFill>
                <a:latin typeface="Inter"/>
              </a:rPr>
              <a:t>Aircraft too wide or slot overlap: HTTP 409 Conflict</a:t>
            </a:r>
          </a:p>
        </p:txBody>
      </p:sp>
      <p:sp>
        <p:nvSpPr>
          <p:cNvPr id="35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36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08 / 22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20364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203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04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78732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Behavioural and workflow modelling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Activity Diagram: Aircraft Turnaround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The critical path, with a fork into four parallel servicing streams and a join before boarding</a:t>
            </a:r>
          </a:p>
        </p:txBody>
      </p:sp>
      <p:sp>
        <p:nvSpPr>
          <p:cNvPr id="7" name="Diagram card"/>
          <p:cNvSpPr/>
          <p:nvPr/>
        </p:nvSpPr>
        <p:spPr>
          <a:xfrm>
            <a:off x="548640" y="1874520"/>
            <a:ext cx="7320046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pic>
        <p:nvPicPr>
          <p:cNvPr id="8" name="Diagram" descr="UML activity diagram of the aircraft turnaround with swimlanes, fork and jo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008" y="2020824"/>
            <a:ext cx="6395311" cy="4096512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8097286" y="1874520"/>
            <a:ext cx="3545769" cy="438912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0" name="Card title"/>
          <p:cNvSpPr txBox="1"/>
          <p:nvPr/>
        </p:nvSpPr>
        <p:spPr>
          <a:xfrm>
            <a:off x="8298454" y="2075688"/>
            <a:ext cx="314343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Critical path</a:t>
            </a:r>
          </a:p>
        </p:txBody>
      </p:sp>
      <p:sp>
        <p:nvSpPr>
          <p:cNvPr id="11" name="Step badge"/>
          <p:cNvSpPr/>
          <p:nvPr/>
        </p:nvSpPr>
        <p:spPr>
          <a:xfrm>
            <a:off x="8298454" y="2514600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2" name="Step number"/>
          <p:cNvSpPr txBox="1"/>
          <p:nvPr/>
        </p:nvSpPr>
        <p:spPr>
          <a:xfrm>
            <a:off x="8298454" y="25146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8719078" y="2496312"/>
            <a:ext cx="2722809" cy="850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Arrival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Land, taxi to stand, dock the jet bridge and ground power, deboard.</a:t>
            </a:r>
          </a:p>
        </p:txBody>
      </p:sp>
      <p:sp>
        <p:nvSpPr>
          <p:cNvPr id="14" name="Step badge"/>
          <p:cNvSpPr/>
          <p:nvPr/>
        </p:nvSpPr>
        <p:spPr>
          <a:xfrm>
            <a:off x="8298454" y="3401568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" name="Step number"/>
          <p:cNvSpPr txBox="1"/>
          <p:nvPr/>
        </p:nvSpPr>
        <p:spPr>
          <a:xfrm>
            <a:off x="8298454" y="34015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8719078" y="3383280"/>
            <a:ext cx="2722809" cy="850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Fork: parallel servicing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Bags, catering, refuelling and cabin cleaning run at the same time.</a:t>
            </a:r>
          </a:p>
        </p:txBody>
      </p:sp>
      <p:sp>
        <p:nvSpPr>
          <p:cNvPr id="17" name="Step badge"/>
          <p:cNvSpPr/>
          <p:nvPr/>
        </p:nvSpPr>
        <p:spPr>
          <a:xfrm>
            <a:off x="8298454" y="4288536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Step number"/>
          <p:cNvSpPr txBox="1"/>
          <p:nvPr/>
        </p:nvSpPr>
        <p:spPr>
          <a:xfrm>
            <a:off x="8298454" y="4288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9" name="Step"/>
          <p:cNvSpPr txBox="1"/>
          <p:nvPr/>
        </p:nvSpPr>
        <p:spPr>
          <a:xfrm>
            <a:off x="8719078" y="4270248"/>
            <a:ext cx="2722809" cy="850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Join: synchronisation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Boarding starts only after every servicing task is COMPLETED.</a:t>
            </a:r>
          </a:p>
        </p:txBody>
      </p:sp>
      <p:sp>
        <p:nvSpPr>
          <p:cNvPr id="20" name="Step badge"/>
          <p:cNvSpPr/>
          <p:nvPr/>
        </p:nvSpPr>
        <p:spPr>
          <a:xfrm>
            <a:off x="8298454" y="5175504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" name="Step number"/>
          <p:cNvSpPr txBox="1"/>
          <p:nvPr/>
        </p:nvSpPr>
        <p:spPr>
          <a:xfrm>
            <a:off x="8298454" y="51755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22" name="Step"/>
          <p:cNvSpPr txBox="1"/>
          <p:nvPr/>
        </p:nvSpPr>
        <p:spPr>
          <a:xfrm>
            <a:off x="8719078" y="5157216"/>
            <a:ext cx="2722809" cy="850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Departure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Board, verify the final loadsheet, push back and taxi.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24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09 / 22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20364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203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04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78732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Behavioural and workflow modelling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Activity Diagram: Baggage Handling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Five scan checkpoints from the check-in desk to the reclaim carousel, with a screening decision</a:t>
            </a:r>
          </a:p>
        </p:txBody>
      </p:sp>
      <p:sp>
        <p:nvSpPr>
          <p:cNvPr id="7" name="Card"/>
          <p:cNvSpPr/>
          <p:nvPr/>
        </p:nvSpPr>
        <p:spPr>
          <a:xfrm>
            <a:off x="548640" y="1874520"/>
            <a:ext cx="3545769" cy="438912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8" name="Card title"/>
          <p:cNvSpPr txBox="1"/>
          <p:nvPr/>
        </p:nvSpPr>
        <p:spPr>
          <a:xfrm>
            <a:off x="749808" y="2075688"/>
            <a:ext cx="314343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Bag journey</a:t>
            </a:r>
          </a:p>
        </p:txBody>
      </p:sp>
      <p:sp>
        <p:nvSpPr>
          <p:cNvPr id="9" name="Step badge"/>
          <p:cNvSpPr/>
          <p:nvPr/>
        </p:nvSpPr>
        <p:spPr>
          <a:xfrm>
            <a:off x="749808" y="2514600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Step number"/>
          <p:cNvSpPr txBox="1"/>
          <p:nvPr/>
        </p:nvSpPr>
        <p:spPr>
          <a:xfrm>
            <a:off x="749808" y="25146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11" name="Step"/>
          <p:cNvSpPr txBox="1"/>
          <p:nvPr/>
        </p:nvSpPr>
        <p:spPr>
          <a:xfrm>
            <a:off x="1170432" y="2496312"/>
            <a:ext cx="2722809" cy="6729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Check-in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Bag weighed and tagged; CHECKIN_DESK scan logged.</a:t>
            </a:r>
          </a:p>
        </p:txBody>
      </p:sp>
      <p:sp>
        <p:nvSpPr>
          <p:cNvPr id="12" name="Step badge"/>
          <p:cNvSpPr/>
          <p:nvPr/>
        </p:nvSpPr>
        <p:spPr>
          <a:xfrm>
            <a:off x="749808" y="3224174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3" name="Step number"/>
          <p:cNvSpPr txBox="1"/>
          <p:nvPr/>
        </p:nvSpPr>
        <p:spPr>
          <a:xfrm>
            <a:off x="749808" y="322417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4" name="Step"/>
          <p:cNvSpPr txBox="1"/>
          <p:nvPr/>
        </p:nvSpPr>
        <p:spPr>
          <a:xfrm>
            <a:off x="1170432" y="3205886"/>
            <a:ext cx="2722809" cy="6729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3D CT screening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Cleared bags go on; flagged bags get a Level 3 search.</a:t>
            </a:r>
          </a:p>
        </p:txBody>
      </p:sp>
      <p:sp>
        <p:nvSpPr>
          <p:cNvPr id="15" name="Step badge"/>
          <p:cNvSpPr/>
          <p:nvPr/>
        </p:nvSpPr>
        <p:spPr>
          <a:xfrm>
            <a:off x="749808" y="3933749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Step number"/>
          <p:cNvSpPr txBox="1"/>
          <p:nvPr/>
        </p:nvSpPr>
        <p:spPr>
          <a:xfrm>
            <a:off x="749808" y="393374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7" name="Step"/>
          <p:cNvSpPr txBox="1"/>
          <p:nvPr/>
        </p:nvSpPr>
        <p:spPr>
          <a:xfrm>
            <a:off x="1170432" y="3915461"/>
            <a:ext cx="2722809" cy="6729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Sortation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Laser barcode routing diverts each bag to its flight lateral.</a:t>
            </a:r>
          </a:p>
        </p:txBody>
      </p:sp>
      <p:sp>
        <p:nvSpPr>
          <p:cNvPr id="18" name="Step badge"/>
          <p:cNvSpPr/>
          <p:nvPr/>
        </p:nvSpPr>
        <p:spPr>
          <a:xfrm>
            <a:off x="749808" y="4643323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Step number"/>
          <p:cNvSpPr txBox="1"/>
          <p:nvPr/>
        </p:nvSpPr>
        <p:spPr>
          <a:xfrm>
            <a:off x="749808" y="4643323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20" name="Step"/>
          <p:cNvSpPr txBox="1"/>
          <p:nvPr/>
        </p:nvSpPr>
        <p:spPr>
          <a:xfrm>
            <a:off x="1170432" y="4625035"/>
            <a:ext cx="2722809" cy="6729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Apron loading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Scanned into the ULD and hold; status LOADED.</a:t>
            </a:r>
          </a:p>
        </p:txBody>
      </p:sp>
      <p:sp>
        <p:nvSpPr>
          <p:cNvPr id="21" name="Step badge"/>
          <p:cNvSpPr/>
          <p:nvPr/>
        </p:nvSpPr>
        <p:spPr>
          <a:xfrm>
            <a:off x="749808" y="5352898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" name="Step number"/>
          <p:cNvSpPr txBox="1"/>
          <p:nvPr/>
        </p:nvSpPr>
        <p:spPr>
          <a:xfrm>
            <a:off x="749808" y="535289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5</a:t>
            </a:r>
          </a:p>
        </p:txBody>
      </p:sp>
      <p:sp>
        <p:nvSpPr>
          <p:cNvPr id="23" name="Step"/>
          <p:cNvSpPr txBox="1"/>
          <p:nvPr/>
        </p:nvSpPr>
        <p:spPr>
          <a:xfrm>
            <a:off x="1170432" y="5334610"/>
            <a:ext cx="2722809" cy="6729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Arrival reclaim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Inducted onto the claim carousel; status CLAIMED.</a:t>
            </a:r>
          </a:p>
        </p:txBody>
      </p:sp>
      <p:sp>
        <p:nvSpPr>
          <p:cNvPr id="24" name="Diagram card"/>
          <p:cNvSpPr/>
          <p:nvPr/>
        </p:nvSpPr>
        <p:spPr>
          <a:xfrm>
            <a:off x="4323009" y="1874520"/>
            <a:ext cx="7320046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pic>
        <p:nvPicPr>
          <p:cNvPr id="25" name="Diagram" descr="UML activity diagram of the baggage handling system with a screening deci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407" y="2020824"/>
            <a:ext cx="6881251" cy="4096512"/>
          </a:xfrm>
          <a:prstGeom prst="rect">
            <a:avLst/>
          </a:prstGeom>
        </p:spPr>
      </p:pic>
      <p:sp>
        <p:nvSpPr>
          <p:cNvPr id="26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27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10 / 22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12866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1286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05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71234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Structural architecture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UML Class Diagram &amp; Domain Model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Domain classes map directly onto the Spring Data JPA entities, with multiplicities and an interface</a:t>
            </a:r>
          </a:p>
        </p:txBody>
      </p:sp>
      <p:sp>
        <p:nvSpPr>
          <p:cNvPr id="7" name="Diagram card"/>
          <p:cNvSpPr/>
          <p:nvPr/>
        </p:nvSpPr>
        <p:spPr>
          <a:xfrm>
            <a:off x="548640" y="1874520"/>
            <a:ext cx="4489338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pic>
        <p:nvPicPr>
          <p:cNvPr id="8" name="Diagram" descr="UML class diagram of the Saphire AOCS domain mod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45" y="2020824"/>
            <a:ext cx="3884927" cy="4096512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5266578" y="1874520"/>
            <a:ext cx="6376477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0" name="Card title"/>
          <p:cNvSpPr txBox="1"/>
          <p:nvPr/>
        </p:nvSpPr>
        <p:spPr>
          <a:xfrm>
            <a:off x="5467746" y="2075688"/>
            <a:ext cx="597414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Core classes</a:t>
            </a:r>
          </a:p>
        </p:txBody>
      </p:sp>
      <p:sp>
        <p:nvSpPr>
          <p:cNvPr id="11" name="Chip"/>
          <p:cNvSpPr/>
          <p:nvPr/>
        </p:nvSpPr>
        <p:spPr>
          <a:xfrm>
            <a:off x="5467746" y="2459736"/>
            <a:ext cx="676656" cy="2468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2" name="Chip text"/>
          <p:cNvSpPr txBox="1"/>
          <p:nvPr/>
        </p:nvSpPr>
        <p:spPr>
          <a:xfrm>
            <a:off x="5467746" y="2459736"/>
            <a:ext cx="67665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Flight</a:t>
            </a:r>
          </a:p>
        </p:txBody>
      </p:sp>
      <p:sp>
        <p:nvSpPr>
          <p:cNvPr id="13" name="Class detail"/>
          <p:cNvSpPr txBox="1"/>
          <p:nvPr/>
        </p:nvSpPr>
        <p:spPr>
          <a:xfrm>
            <a:off x="5467746" y="2752344"/>
            <a:ext cx="5974141" cy="373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Number, status, scheduled and actual times; links airline, aircraft, gate and stand; 1:N turnaround tasks and delay logs.</a:t>
            </a:r>
          </a:p>
        </p:txBody>
      </p:sp>
      <p:sp>
        <p:nvSpPr>
          <p:cNvPr id="14" name="Chip"/>
          <p:cNvSpPr/>
          <p:nvPr/>
        </p:nvSpPr>
        <p:spPr>
          <a:xfrm>
            <a:off x="5467746" y="3180283"/>
            <a:ext cx="1972086" cy="2468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" name="Chip text"/>
          <p:cNvSpPr txBox="1"/>
          <p:nvPr/>
        </p:nvSpPr>
        <p:spPr>
          <a:xfrm>
            <a:off x="5467746" y="3180283"/>
            <a:ext cx="197208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Aircraft · AircraftType</a:t>
            </a:r>
          </a:p>
        </p:txBody>
      </p:sp>
      <p:sp>
        <p:nvSpPr>
          <p:cNvPr id="16" name="Class detail"/>
          <p:cNvSpPr txBox="1"/>
          <p:nvPr/>
        </p:nvSpPr>
        <p:spPr>
          <a:xfrm>
            <a:off x="5467746" y="3472891"/>
            <a:ext cx="5974141" cy="373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Type holds wingspan, MTOW and capacity; each aircraft belongs to an airline.</a:t>
            </a:r>
          </a:p>
        </p:txBody>
      </p:sp>
      <p:sp>
        <p:nvSpPr>
          <p:cNvPr id="17" name="Chip"/>
          <p:cNvSpPr/>
          <p:nvPr/>
        </p:nvSpPr>
        <p:spPr>
          <a:xfrm>
            <a:off x="5467746" y="3900830"/>
            <a:ext cx="1133856" cy="2468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Chip text"/>
          <p:cNvSpPr txBox="1"/>
          <p:nvPr/>
        </p:nvSpPr>
        <p:spPr>
          <a:xfrm>
            <a:off x="5467746" y="3900830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Gate · Stand</a:t>
            </a:r>
          </a:p>
        </p:txBody>
      </p:sp>
      <p:sp>
        <p:nvSpPr>
          <p:cNvPr id="19" name="Class detail"/>
          <p:cNvSpPr txBox="1"/>
          <p:nvPr/>
        </p:nvSpPr>
        <p:spPr>
          <a:xfrm>
            <a:off x="5467746" y="4193438"/>
            <a:ext cx="5974141" cy="373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Gate has a terminal and maximum aircraft size; stands can be remote and have jet bridges.</a:t>
            </a:r>
          </a:p>
        </p:txBody>
      </p:sp>
      <p:sp>
        <p:nvSpPr>
          <p:cNvPr id="20" name="Chip"/>
          <p:cNvSpPr/>
          <p:nvPr/>
        </p:nvSpPr>
        <p:spPr>
          <a:xfrm>
            <a:off x="5467746" y="4621378"/>
            <a:ext cx="1819656" cy="2468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" name="Chip text"/>
          <p:cNvSpPr txBox="1"/>
          <p:nvPr/>
        </p:nvSpPr>
        <p:spPr>
          <a:xfrm>
            <a:off x="5467746" y="4621378"/>
            <a:ext cx="181965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TurnaroundTask · User</a:t>
            </a:r>
          </a:p>
        </p:txBody>
      </p:sp>
      <p:sp>
        <p:nvSpPr>
          <p:cNvPr id="22" name="Class detail"/>
          <p:cNvSpPr txBox="1"/>
          <p:nvPr/>
        </p:nvSpPr>
        <p:spPr>
          <a:xfrm>
            <a:off x="5467746" y="4913986"/>
            <a:ext cx="5974141" cy="373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Tasks are assigned to staff with planned and actual times; users carry a role and a department.</a:t>
            </a:r>
          </a:p>
        </p:txBody>
      </p:sp>
      <p:sp>
        <p:nvSpPr>
          <p:cNvPr id="23" name="Chip"/>
          <p:cNvSpPr/>
          <p:nvPr/>
        </p:nvSpPr>
        <p:spPr>
          <a:xfrm>
            <a:off x="5467746" y="5341925"/>
            <a:ext cx="1895826" cy="2468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" name="Chip text"/>
          <p:cNvSpPr txBox="1"/>
          <p:nvPr/>
        </p:nvSpPr>
        <p:spPr>
          <a:xfrm>
            <a:off x="5467746" y="5341925"/>
            <a:ext cx="1895826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IOperationsCoordinator</a:t>
            </a:r>
          </a:p>
        </p:txBody>
      </p:sp>
      <p:sp>
        <p:nvSpPr>
          <p:cNvPr id="25" name="Class detail"/>
          <p:cNvSpPr txBox="1"/>
          <p:nvPr/>
        </p:nvSpPr>
        <p:spPr>
          <a:xfrm>
            <a:off x="5467746" y="5634533"/>
            <a:ext cx="5974141" cy="373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Interface realised by OperationsManager: schedule, update status, allocate gate and stand, start turnaround.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27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11 / 22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12866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1286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05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71234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Object-oriented design patterns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Design Patterns in Saphire AOCS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Four patterns that structure the persistence, web and security layers of the backend</a:t>
            </a:r>
          </a:p>
        </p:txBody>
      </p:sp>
      <p:sp>
        <p:nvSpPr>
          <p:cNvPr id="7" name="Card"/>
          <p:cNvSpPr/>
          <p:nvPr/>
        </p:nvSpPr>
        <p:spPr>
          <a:xfrm>
            <a:off x="548640" y="1874520"/>
            <a:ext cx="5432908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8" name="Icon tile"/>
          <p:cNvSpPr/>
          <p:nvPr/>
        </p:nvSpPr>
        <p:spPr>
          <a:xfrm>
            <a:off x="749808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9" name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22" y="2164202"/>
            <a:ext cx="225308" cy="225308"/>
          </a:xfrm>
          <a:prstGeom prst="rect">
            <a:avLst/>
          </a:prstGeom>
        </p:spPr>
      </p:pic>
      <p:sp>
        <p:nvSpPr>
          <p:cNvPr id="10" name="Card title"/>
          <p:cNvSpPr txBox="1"/>
          <p:nvPr/>
        </p:nvSpPr>
        <p:spPr>
          <a:xfrm>
            <a:off x="1280160" y="2039112"/>
            <a:ext cx="45002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Repository</a:t>
            </a:r>
          </a:p>
        </p:txBody>
      </p:sp>
      <p:sp>
        <p:nvSpPr>
          <p:cNvPr id="11" name="Card body"/>
          <p:cNvSpPr txBox="1"/>
          <p:nvPr/>
        </p:nvSpPr>
        <p:spPr>
          <a:xfrm>
            <a:off x="749808" y="2642616"/>
            <a:ext cx="503057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Spring Data JPA interfaces hide SQL behind type-safe query methods, so services never build queries by hand.</a:t>
            </a:r>
          </a:p>
        </p:txBody>
      </p:sp>
      <p:sp>
        <p:nvSpPr>
          <p:cNvPr id="12" name="Chip"/>
          <p:cNvSpPr/>
          <p:nvPr/>
        </p:nvSpPr>
        <p:spPr>
          <a:xfrm>
            <a:off x="749808" y="3497580"/>
            <a:ext cx="1438626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3" name="Chip text"/>
          <p:cNvSpPr txBox="1"/>
          <p:nvPr/>
        </p:nvSpPr>
        <p:spPr>
          <a:xfrm>
            <a:off x="749808" y="3497580"/>
            <a:ext cx="143862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FlightRepository</a:t>
            </a:r>
          </a:p>
        </p:txBody>
      </p:sp>
      <p:sp>
        <p:nvSpPr>
          <p:cNvPr id="14" name="Chip"/>
          <p:cNvSpPr/>
          <p:nvPr/>
        </p:nvSpPr>
        <p:spPr>
          <a:xfrm>
            <a:off x="2279874" y="3497580"/>
            <a:ext cx="1286286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" name="Chip text"/>
          <p:cNvSpPr txBox="1"/>
          <p:nvPr/>
        </p:nvSpPr>
        <p:spPr>
          <a:xfrm>
            <a:off x="2279874" y="3497580"/>
            <a:ext cx="128628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GateRepository</a:t>
            </a:r>
          </a:p>
        </p:txBody>
      </p:sp>
      <p:sp>
        <p:nvSpPr>
          <p:cNvPr id="16" name="Chip"/>
          <p:cNvSpPr/>
          <p:nvPr/>
        </p:nvSpPr>
        <p:spPr>
          <a:xfrm>
            <a:off x="3657600" y="3497580"/>
            <a:ext cx="1286286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" name="Chip text"/>
          <p:cNvSpPr txBox="1"/>
          <p:nvPr/>
        </p:nvSpPr>
        <p:spPr>
          <a:xfrm>
            <a:off x="3657600" y="3497580"/>
            <a:ext cx="128628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TaskRepository</a:t>
            </a:r>
          </a:p>
        </p:txBody>
      </p:sp>
      <p:sp>
        <p:nvSpPr>
          <p:cNvPr id="18" name="Card"/>
          <p:cNvSpPr/>
          <p:nvPr/>
        </p:nvSpPr>
        <p:spPr>
          <a:xfrm>
            <a:off x="6210148" y="1874520"/>
            <a:ext cx="5432908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9" name="Icon tile"/>
          <p:cNvSpPr/>
          <p:nvPr/>
        </p:nvSpPr>
        <p:spPr>
          <a:xfrm>
            <a:off x="6411316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0" name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30" y="2164202"/>
            <a:ext cx="225308" cy="225308"/>
          </a:xfrm>
          <a:prstGeom prst="rect">
            <a:avLst/>
          </a:prstGeom>
        </p:spPr>
      </p:pic>
      <p:sp>
        <p:nvSpPr>
          <p:cNvPr id="21" name="Card title"/>
          <p:cNvSpPr txBox="1"/>
          <p:nvPr/>
        </p:nvSpPr>
        <p:spPr>
          <a:xfrm>
            <a:off x="6941668" y="2039112"/>
            <a:ext cx="45002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Global Exception Handler</a:t>
            </a:r>
          </a:p>
        </p:txBody>
      </p:sp>
      <p:sp>
        <p:nvSpPr>
          <p:cNvPr id="22" name="Card body"/>
          <p:cNvSpPr txBox="1"/>
          <p:nvPr/>
        </p:nvSpPr>
        <p:spPr>
          <a:xfrm>
            <a:off x="6411316" y="2642616"/>
            <a:ext cx="503057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One @RestControllerAdvice turns every exception into a consistent RFC 7807 error body with a correlation ID.</a:t>
            </a:r>
          </a:p>
        </p:txBody>
      </p:sp>
      <p:sp>
        <p:nvSpPr>
          <p:cNvPr id="23" name="Chip"/>
          <p:cNvSpPr/>
          <p:nvPr/>
        </p:nvSpPr>
        <p:spPr>
          <a:xfrm>
            <a:off x="6411316" y="3497580"/>
            <a:ext cx="1895826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" name="Chip text"/>
          <p:cNvSpPr txBox="1"/>
          <p:nvPr/>
        </p:nvSpPr>
        <p:spPr>
          <a:xfrm>
            <a:off x="6411316" y="3497580"/>
            <a:ext cx="189582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GlobalExceptionHandler</a:t>
            </a:r>
          </a:p>
        </p:txBody>
      </p:sp>
      <p:sp>
        <p:nvSpPr>
          <p:cNvPr id="25" name="Chip"/>
          <p:cNvSpPr/>
          <p:nvPr/>
        </p:nvSpPr>
        <p:spPr>
          <a:xfrm>
            <a:off x="8398581" y="3497580"/>
            <a:ext cx="1210026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" name="Chip text"/>
          <p:cNvSpPr txBox="1"/>
          <p:nvPr/>
        </p:nvSpPr>
        <p:spPr>
          <a:xfrm>
            <a:off x="8398581" y="3497580"/>
            <a:ext cx="121002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ProblemDetail</a:t>
            </a:r>
          </a:p>
        </p:txBody>
      </p:sp>
      <p:sp>
        <p:nvSpPr>
          <p:cNvPr id="27" name="Card"/>
          <p:cNvSpPr/>
          <p:nvPr/>
        </p:nvSpPr>
        <p:spPr>
          <a:xfrm>
            <a:off x="548640" y="4183380"/>
            <a:ext cx="5432908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8" name="Icon tile"/>
          <p:cNvSpPr/>
          <p:nvPr/>
        </p:nvSpPr>
        <p:spPr>
          <a:xfrm>
            <a:off x="749808" y="438454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9" name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22" y="4473062"/>
            <a:ext cx="225308" cy="225308"/>
          </a:xfrm>
          <a:prstGeom prst="rect">
            <a:avLst/>
          </a:prstGeom>
        </p:spPr>
      </p:pic>
      <p:sp>
        <p:nvSpPr>
          <p:cNvPr id="30" name="Card title"/>
          <p:cNvSpPr txBox="1"/>
          <p:nvPr/>
        </p:nvSpPr>
        <p:spPr>
          <a:xfrm>
            <a:off x="1280160" y="4347972"/>
            <a:ext cx="45002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Filter Chain</a:t>
            </a:r>
          </a:p>
        </p:txBody>
      </p:sp>
      <p:sp>
        <p:nvSpPr>
          <p:cNvPr id="31" name="Card body"/>
          <p:cNvSpPr txBox="1"/>
          <p:nvPr/>
        </p:nvSpPr>
        <p:spPr>
          <a:xfrm>
            <a:off x="749808" y="4951476"/>
            <a:ext cx="503057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Chain of responsibility: each request passes the logging filter, then the JWT filter that checks the session and loads the role.</a:t>
            </a:r>
          </a:p>
        </p:txBody>
      </p:sp>
      <p:sp>
        <p:nvSpPr>
          <p:cNvPr id="32" name="Chip"/>
          <p:cNvSpPr/>
          <p:nvPr/>
        </p:nvSpPr>
        <p:spPr>
          <a:xfrm>
            <a:off x="749808" y="5806440"/>
            <a:ext cx="1743486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" name="Chip text"/>
          <p:cNvSpPr txBox="1"/>
          <p:nvPr/>
        </p:nvSpPr>
        <p:spPr>
          <a:xfrm>
            <a:off x="749808" y="5806440"/>
            <a:ext cx="174348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RequestLoggingFilter</a:t>
            </a:r>
          </a:p>
        </p:txBody>
      </p:sp>
      <p:sp>
        <p:nvSpPr>
          <p:cNvPr id="34" name="Chip"/>
          <p:cNvSpPr/>
          <p:nvPr/>
        </p:nvSpPr>
        <p:spPr>
          <a:xfrm>
            <a:off x="2584734" y="5806440"/>
            <a:ext cx="1210026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" name="Chip text"/>
          <p:cNvSpPr txBox="1"/>
          <p:nvPr/>
        </p:nvSpPr>
        <p:spPr>
          <a:xfrm>
            <a:off x="2584734" y="5806440"/>
            <a:ext cx="121002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JwtAuthFilter</a:t>
            </a:r>
          </a:p>
        </p:txBody>
      </p:sp>
      <p:sp>
        <p:nvSpPr>
          <p:cNvPr id="36" name="Card"/>
          <p:cNvSpPr/>
          <p:nvPr/>
        </p:nvSpPr>
        <p:spPr>
          <a:xfrm>
            <a:off x="6210148" y="4183380"/>
            <a:ext cx="5432908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37" name="Icon tile"/>
          <p:cNvSpPr/>
          <p:nvPr/>
        </p:nvSpPr>
        <p:spPr>
          <a:xfrm>
            <a:off x="6411316" y="438454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38" name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830" y="4473062"/>
            <a:ext cx="225308" cy="225308"/>
          </a:xfrm>
          <a:prstGeom prst="rect">
            <a:avLst/>
          </a:prstGeom>
        </p:spPr>
      </p:pic>
      <p:sp>
        <p:nvSpPr>
          <p:cNvPr id="39" name="Card title"/>
          <p:cNvSpPr txBox="1"/>
          <p:nvPr/>
        </p:nvSpPr>
        <p:spPr>
          <a:xfrm>
            <a:off x="6941668" y="4347972"/>
            <a:ext cx="45002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Data Transfer Object</a:t>
            </a:r>
          </a:p>
        </p:txBody>
      </p:sp>
      <p:sp>
        <p:nvSpPr>
          <p:cNvPr id="40" name="Card body"/>
          <p:cNvSpPr txBox="1"/>
          <p:nvPr/>
        </p:nvSpPr>
        <p:spPr>
          <a:xfrm>
            <a:off x="6411316" y="4951476"/>
            <a:ext cx="503057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DTOs decouple JPA entities from the JSON API and keep fields like password hashes out of responses.</a:t>
            </a:r>
          </a:p>
        </p:txBody>
      </p:sp>
      <p:sp>
        <p:nvSpPr>
          <p:cNvPr id="41" name="Chip"/>
          <p:cNvSpPr/>
          <p:nvPr/>
        </p:nvSpPr>
        <p:spPr>
          <a:xfrm>
            <a:off x="6411316" y="5806440"/>
            <a:ext cx="905256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2" name="Chip text"/>
          <p:cNvSpPr txBox="1"/>
          <p:nvPr/>
        </p:nvSpPr>
        <p:spPr>
          <a:xfrm>
            <a:off x="6411316" y="5806440"/>
            <a:ext cx="90525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FlightDTO</a:t>
            </a:r>
          </a:p>
        </p:txBody>
      </p:sp>
      <p:sp>
        <p:nvSpPr>
          <p:cNvPr id="43" name="Chip"/>
          <p:cNvSpPr/>
          <p:nvPr/>
        </p:nvSpPr>
        <p:spPr>
          <a:xfrm>
            <a:off x="7408012" y="5806440"/>
            <a:ext cx="1438626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4" name="Chip text"/>
          <p:cNvSpPr txBox="1"/>
          <p:nvPr/>
        </p:nvSpPr>
        <p:spPr>
          <a:xfrm>
            <a:off x="7408012" y="5806440"/>
            <a:ext cx="143862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CheckinLookupDTO</a:t>
            </a:r>
          </a:p>
        </p:txBody>
      </p:sp>
      <p:sp>
        <p:nvSpPr>
          <p:cNvPr id="45" name="Chip"/>
          <p:cNvSpPr/>
          <p:nvPr/>
        </p:nvSpPr>
        <p:spPr>
          <a:xfrm>
            <a:off x="8938077" y="5806440"/>
            <a:ext cx="1057686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6" name="Chip text"/>
          <p:cNvSpPr txBox="1"/>
          <p:nvPr/>
        </p:nvSpPr>
        <p:spPr>
          <a:xfrm>
            <a:off x="8938077" y="5806440"/>
            <a:ext cx="105768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AuditLogDTO</a:t>
            </a:r>
          </a:p>
        </p:txBody>
      </p:sp>
      <p:sp>
        <p:nvSpPr>
          <p:cNvPr id="47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48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12 / 22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15061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1506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06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73429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Dynamic and interaction modelling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Sequence Diagram: Turnaround &amp; Delays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Lifelines from airport staff through the web UI, controller and service to PostgreSQL</a:t>
            </a:r>
          </a:p>
        </p:txBody>
      </p:sp>
      <p:sp>
        <p:nvSpPr>
          <p:cNvPr id="7" name="Diagram card"/>
          <p:cNvSpPr/>
          <p:nvPr/>
        </p:nvSpPr>
        <p:spPr>
          <a:xfrm>
            <a:off x="548640" y="1874520"/>
            <a:ext cx="7320046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8" name="Figure caption"/>
          <p:cNvSpPr txBox="1"/>
          <p:nvPr/>
        </p:nvSpPr>
        <p:spPr>
          <a:xfrm>
            <a:off x="694944" y="1984248"/>
            <a:ext cx="3413181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Part 1 · phases 1 and 2</a:t>
            </a:r>
          </a:p>
        </p:txBody>
      </p:sp>
      <p:pic>
        <p:nvPicPr>
          <p:cNvPr id="9" name="Diagram" descr="UML sequence diagram, part 1 · phases 1 a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276856"/>
            <a:ext cx="3413181" cy="3147871"/>
          </a:xfrm>
          <a:prstGeom prst="rect">
            <a:avLst/>
          </a:prstGeom>
        </p:spPr>
      </p:pic>
      <p:sp>
        <p:nvSpPr>
          <p:cNvPr id="10" name="Figure caption"/>
          <p:cNvSpPr txBox="1"/>
          <p:nvPr/>
        </p:nvSpPr>
        <p:spPr>
          <a:xfrm>
            <a:off x="4309293" y="1984248"/>
            <a:ext cx="3413181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Part 2 · phases 3 and 4</a:t>
            </a:r>
          </a:p>
        </p:txBody>
      </p:sp>
      <p:pic>
        <p:nvPicPr>
          <p:cNvPr id="11" name="Diagram" descr="UML sequence diagram, part 2 · phases 3 and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293" y="2276856"/>
            <a:ext cx="3413181" cy="2646957"/>
          </a:xfrm>
          <a:prstGeom prst="rect">
            <a:avLst/>
          </a:prstGeom>
        </p:spPr>
      </p:pic>
      <p:cxnSp>
        <p:nvCxnSpPr>
          <p:cNvPr id="12" name="Part divider"/>
          <p:cNvCxnSpPr/>
          <p:nvPr/>
        </p:nvCxnSpPr>
        <p:spPr>
          <a:xfrm>
            <a:off x="4208709" y="2331720"/>
            <a:ext cx="0" cy="3749040"/>
          </a:xfrm>
          <a:prstGeom prst="line">
            <a:avLst/>
          </a:prstGeom>
          <a:ln w="9525">
            <a:solidFill>
              <a:srgbClr val="E2E8F0"/>
            </a:solidFill>
            <a:prstDash val="dash"/>
          </a:ln>
        </p:spPr>
      </p:cxnSp>
      <p:sp>
        <p:nvSpPr>
          <p:cNvPr id="13" name="Card"/>
          <p:cNvSpPr/>
          <p:nvPr/>
        </p:nvSpPr>
        <p:spPr>
          <a:xfrm>
            <a:off x="8097286" y="1874520"/>
            <a:ext cx="3545769" cy="438912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4" name="Card title"/>
          <p:cNvSpPr txBox="1"/>
          <p:nvPr/>
        </p:nvSpPr>
        <p:spPr>
          <a:xfrm>
            <a:off x="8298454" y="2075688"/>
            <a:ext cx="314343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Four phases</a:t>
            </a:r>
          </a:p>
        </p:txBody>
      </p:sp>
      <p:sp>
        <p:nvSpPr>
          <p:cNvPr id="15" name="Step badge"/>
          <p:cNvSpPr/>
          <p:nvPr/>
        </p:nvSpPr>
        <p:spPr>
          <a:xfrm>
            <a:off x="8298454" y="2514600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Step number"/>
          <p:cNvSpPr txBox="1"/>
          <p:nvPr/>
        </p:nvSpPr>
        <p:spPr>
          <a:xfrm>
            <a:off x="8298454" y="25146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17" name="Step"/>
          <p:cNvSpPr txBox="1"/>
          <p:nvPr/>
        </p:nvSpPr>
        <p:spPr>
          <a:xfrm>
            <a:off x="8719078" y="2496312"/>
            <a:ext cx="2722809" cy="850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Turnaround start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Staff starts the turnaround; the flight is set ON_BLOCK.</a:t>
            </a:r>
          </a:p>
        </p:txBody>
      </p:sp>
      <p:sp>
        <p:nvSpPr>
          <p:cNvPr id="18" name="Step badge"/>
          <p:cNvSpPr/>
          <p:nvPr/>
        </p:nvSpPr>
        <p:spPr>
          <a:xfrm>
            <a:off x="8298454" y="3401568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Step number"/>
          <p:cNvSpPr txBox="1"/>
          <p:nvPr/>
        </p:nvSpPr>
        <p:spPr>
          <a:xfrm>
            <a:off x="8298454" y="34015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20" name="Step"/>
          <p:cNvSpPr txBox="1"/>
          <p:nvPr/>
        </p:nvSpPr>
        <p:spPr>
          <a:xfrm>
            <a:off x="8719078" y="3383280"/>
            <a:ext cx="2722809" cy="850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Gate and stand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Wingspan and availability checked; a conflict returns 409.</a:t>
            </a:r>
          </a:p>
        </p:txBody>
      </p:sp>
      <p:sp>
        <p:nvSpPr>
          <p:cNvPr id="21" name="Step badge"/>
          <p:cNvSpPr/>
          <p:nvPr/>
        </p:nvSpPr>
        <p:spPr>
          <a:xfrm>
            <a:off x="8298454" y="4288536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" name="Step number"/>
          <p:cNvSpPr txBox="1"/>
          <p:nvPr/>
        </p:nvSpPr>
        <p:spPr>
          <a:xfrm>
            <a:off x="8298454" y="4288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23" name="Step"/>
          <p:cNvSpPr txBox="1"/>
          <p:nvPr/>
        </p:nvSpPr>
        <p:spPr>
          <a:xfrm>
            <a:off x="8719078" y="4270248"/>
            <a:ext cx="2722809" cy="850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Ground servicing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Tasks set to COMPLETED through PUT /api/tasks/{id}/status.</a:t>
            </a:r>
          </a:p>
        </p:txBody>
      </p:sp>
      <p:sp>
        <p:nvSpPr>
          <p:cNvPr id="24" name="Step badge"/>
          <p:cNvSpPr/>
          <p:nvPr/>
        </p:nvSpPr>
        <p:spPr>
          <a:xfrm>
            <a:off x="8298454" y="5175504"/>
            <a:ext cx="292608" cy="292608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Step number"/>
          <p:cNvSpPr txBox="1"/>
          <p:nvPr/>
        </p:nvSpPr>
        <p:spPr>
          <a:xfrm>
            <a:off x="8298454" y="51755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26" name="Step"/>
          <p:cNvSpPr txBox="1"/>
          <p:nvPr/>
        </p:nvSpPr>
        <p:spPr>
          <a:xfrm>
            <a:off x="8719078" y="5157216"/>
            <a:ext cx="2722809" cy="850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300" b="1" i="0" spc="-10">
                <a:solidFill>
                  <a:srgbClr val="0F2942"/>
                </a:solidFill>
                <a:latin typeface="Plus Jakarta Sans"/>
              </a:rPr>
              <a:t>Pushback</a:t>
            </a:r>
          </a:p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Flight DEPARTED, stand released, audit log written.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28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13 / 22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15061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1506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06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73429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Dynamic and interaction modelling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Sequence Flow: Check-In &amp; Boarding Pass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Four calls from the check-in desk to the database, in two separate transactions</a:t>
            </a:r>
          </a:p>
        </p:txBody>
      </p:sp>
      <p:sp>
        <p:nvSpPr>
          <p:cNvPr id="7" name="Lifeline box"/>
          <p:cNvSpPr/>
          <p:nvPr/>
        </p:nvSpPr>
        <p:spPr>
          <a:xfrm>
            <a:off x="548640" y="1874520"/>
            <a:ext cx="2036003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8" name="Icon tile"/>
          <p:cNvSpPr/>
          <p:nvPr/>
        </p:nvSpPr>
        <p:spPr>
          <a:xfrm>
            <a:off x="658368" y="1975104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9" name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2055571"/>
            <a:ext cx="204826" cy="204826"/>
          </a:xfrm>
          <a:prstGeom prst="rect">
            <a:avLst/>
          </a:prstGeom>
        </p:spPr>
      </p:pic>
      <p:sp>
        <p:nvSpPr>
          <p:cNvPr id="10" name="Lifeline label"/>
          <p:cNvSpPr txBox="1"/>
          <p:nvPr/>
        </p:nvSpPr>
        <p:spPr>
          <a:xfrm>
            <a:off x="1115568" y="1929384"/>
            <a:ext cx="137763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-10">
                <a:solidFill>
                  <a:srgbClr val="0F2942"/>
                </a:solidFill>
                <a:latin typeface="Plus Jakarta Sans"/>
              </a:rPr>
              <a:t>Check-in agent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2602931" y="2157984"/>
            <a:ext cx="192024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</p:cxnSp>
      <p:sp>
        <p:nvSpPr>
          <p:cNvPr id="12" name="Lifeline box"/>
          <p:cNvSpPr/>
          <p:nvPr/>
        </p:nvSpPr>
        <p:spPr>
          <a:xfrm>
            <a:off x="2813243" y="1874520"/>
            <a:ext cx="2036003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3" name="Icon tile"/>
          <p:cNvSpPr/>
          <p:nvPr/>
        </p:nvSpPr>
        <p:spPr>
          <a:xfrm>
            <a:off x="2922971" y="1975104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4" name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438" y="2055571"/>
            <a:ext cx="204826" cy="204826"/>
          </a:xfrm>
          <a:prstGeom prst="rect">
            <a:avLst/>
          </a:prstGeom>
        </p:spPr>
      </p:pic>
      <p:sp>
        <p:nvSpPr>
          <p:cNvPr id="15" name="Lifeline label"/>
          <p:cNvSpPr txBox="1"/>
          <p:nvPr/>
        </p:nvSpPr>
        <p:spPr>
          <a:xfrm>
            <a:off x="3380171" y="1929384"/>
            <a:ext cx="137763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-10">
                <a:solidFill>
                  <a:srgbClr val="0F2942"/>
                </a:solidFill>
                <a:latin typeface="Plus Jakarta Sans"/>
              </a:rPr>
              <a:t>DCS console (React)</a:t>
            </a:r>
          </a:p>
        </p:txBody>
      </p:sp>
      <p:cxnSp>
        <p:nvCxnSpPr>
          <p:cNvPr id="16" name="Arrow"/>
          <p:cNvCxnSpPr/>
          <p:nvPr/>
        </p:nvCxnSpPr>
        <p:spPr>
          <a:xfrm>
            <a:off x="4867534" y="2157984"/>
            <a:ext cx="192024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</p:cxnSp>
      <p:sp>
        <p:nvSpPr>
          <p:cNvPr id="17" name="Lifeline box"/>
          <p:cNvSpPr/>
          <p:nvPr/>
        </p:nvSpPr>
        <p:spPr>
          <a:xfrm>
            <a:off x="5077846" y="1874520"/>
            <a:ext cx="2036003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8" name="Icon tile"/>
          <p:cNvSpPr/>
          <p:nvPr/>
        </p:nvSpPr>
        <p:spPr>
          <a:xfrm>
            <a:off x="5187574" y="1975104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9" name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041" y="2055571"/>
            <a:ext cx="204826" cy="204826"/>
          </a:xfrm>
          <a:prstGeom prst="rect">
            <a:avLst/>
          </a:prstGeom>
        </p:spPr>
      </p:pic>
      <p:sp>
        <p:nvSpPr>
          <p:cNvPr id="20" name="Lifeline label"/>
          <p:cNvSpPr txBox="1"/>
          <p:nvPr/>
        </p:nvSpPr>
        <p:spPr>
          <a:xfrm>
            <a:off x="5644774" y="1929384"/>
            <a:ext cx="137763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3A5F"/>
                </a:solidFill>
                <a:latin typeface="JetBrains Mono Medium"/>
              </a:rPr>
              <a:t>CheckinController</a:t>
            </a:r>
          </a:p>
        </p:txBody>
      </p:sp>
      <p:cxnSp>
        <p:nvCxnSpPr>
          <p:cNvPr id="21" name="Arrow"/>
          <p:cNvCxnSpPr/>
          <p:nvPr/>
        </p:nvCxnSpPr>
        <p:spPr>
          <a:xfrm>
            <a:off x="7132137" y="2157984"/>
            <a:ext cx="192024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</p:cxnSp>
      <p:sp>
        <p:nvSpPr>
          <p:cNvPr id="22" name="Lifeline box"/>
          <p:cNvSpPr/>
          <p:nvPr/>
        </p:nvSpPr>
        <p:spPr>
          <a:xfrm>
            <a:off x="7342449" y="1874520"/>
            <a:ext cx="2036003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3" name="Icon tile"/>
          <p:cNvSpPr/>
          <p:nvPr/>
        </p:nvSpPr>
        <p:spPr>
          <a:xfrm>
            <a:off x="7452177" y="1975104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4" name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644" y="2055571"/>
            <a:ext cx="204826" cy="204826"/>
          </a:xfrm>
          <a:prstGeom prst="rect">
            <a:avLst/>
          </a:prstGeom>
        </p:spPr>
      </p:pic>
      <p:sp>
        <p:nvSpPr>
          <p:cNvPr id="25" name="Lifeline label"/>
          <p:cNvSpPr txBox="1"/>
          <p:nvPr/>
        </p:nvSpPr>
        <p:spPr>
          <a:xfrm>
            <a:off x="7909377" y="1929384"/>
            <a:ext cx="137763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E3A5F"/>
                </a:solidFill>
                <a:latin typeface="JetBrains Mono Medium"/>
              </a:rPr>
              <a:t>CheckinService</a:t>
            </a:r>
          </a:p>
        </p:txBody>
      </p:sp>
      <p:cxnSp>
        <p:nvCxnSpPr>
          <p:cNvPr id="26" name="Arrow"/>
          <p:cNvCxnSpPr/>
          <p:nvPr/>
        </p:nvCxnSpPr>
        <p:spPr>
          <a:xfrm>
            <a:off x="9396740" y="2157984"/>
            <a:ext cx="192024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</p:cxnSp>
      <p:sp>
        <p:nvSpPr>
          <p:cNvPr id="27" name="Lifeline box"/>
          <p:cNvSpPr/>
          <p:nvPr/>
        </p:nvSpPr>
        <p:spPr>
          <a:xfrm>
            <a:off x="9607052" y="1874520"/>
            <a:ext cx="2036003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8" name="Icon tile"/>
          <p:cNvSpPr/>
          <p:nvPr/>
        </p:nvSpPr>
        <p:spPr>
          <a:xfrm>
            <a:off x="9716780" y="1975104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9" name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2055571"/>
            <a:ext cx="204826" cy="204826"/>
          </a:xfrm>
          <a:prstGeom prst="rect">
            <a:avLst/>
          </a:prstGeom>
        </p:spPr>
      </p:pic>
      <p:sp>
        <p:nvSpPr>
          <p:cNvPr id="30" name="Lifeline label"/>
          <p:cNvSpPr txBox="1"/>
          <p:nvPr/>
        </p:nvSpPr>
        <p:spPr>
          <a:xfrm>
            <a:off x="10173980" y="1929384"/>
            <a:ext cx="137763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spc="-10">
                <a:solidFill>
                  <a:srgbClr val="0F2942"/>
                </a:solidFill>
                <a:latin typeface="Plus Jakarta Sans"/>
              </a:rPr>
              <a:t>PostgreSQL</a:t>
            </a:r>
          </a:p>
        </p:txBody>
      </p:sp>
      <p:sp>
        <p:nvSpPr>
          <p:cNvPr id="31" name="Card"/>
          <p:cNvSpPr/>
          <p:nvPr/>
        </p:nvSpPr>
        <p:spPr>
          <a:xfrm>
            <a:off x="548640" y="2697480"/>
            <a:ext cx="2602108" cy="3566160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32" name="Step badge"/>
          <p:cNvSpPr/>
          <p:nvPr/>
        </p:nvSpPr>
        <p:spPr>
          <a:xfrm>
            <a:off x="749808" y="2898648"/>
            <a:ext cx="329184" cy="329184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" name="Step number"/>
          <p:cNvSpPr txBox="1"/>
          <p:nvPr/>
        </p:nvSpPr>
        <p:spPr>
          <a:xfrm>
            <a:off x="749808" y="28986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34" name="Chip"/>
          <p:cNvSpPr/>
          <p:nvPr/>
        </p:nvSpPr>
        <p:spPr>
          <a:xfrm>
            <a:off x="2046702" y="2935224"/>
            <a:ext cx="902879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" name="Chip text"/>
          <p:cNvSpPr txBox="1"/>
          <p:nvPr/>
        </p:nvSpPr>
        <p:spPr>
          <a:xfrm>
            <a:off x="2046702" y="2935224"/>
            <a:ext cx="90287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Read only</a:t>
            </a:r>
          </a:p>
        </p:txBody>
      </p:sp>
      <p:sp>
        <p:nvSpPr>
          <p:cNvPr id="36" name="Step title"/>
          <p:cNvSpPr txBox="1"/>
          <p:nvPr/>
        </p:nvSpPr>
        <p:spPr>
          <a:xfrm>
            <a:off x="749808" y="3355848"/>
            <a:ext cx="21997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0">
                <a:solidFill>
                  <a:srgbClr val="0F2942"/>
                </a:solidFill>
                <a:latin typeface="Plus Jakarta Sans"/>
              </a:rPr>
              <a:t>Find the booking</a:t>
            </a:r>
          </a:p>
        </p:txBody>
      </p:sp>
      <p:sp>
        <p:nvSpPr>
          <p:cNvPr id="37" name="Endpoint box"/>
          <p:cNvSpPr/>
          <p:nvPr/>
        </p:nvSpPr>
        <p:spPr>
          <a:xfrm>
            <a:off x="749808" y="3867912"/>
            <a:ext cx="2199772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" name="Endpoint"/>
          <p:cNvSpPr txBox="1"/>
          <p:nvPr/>
        </p:nvSpPr>
        <p:spPr>
          <a:xfrm>
            <a:off x="859536" y="3867912"/>
            <a:ext cx="1980316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0369A1"/>
                </a:solidFill>
                <a:latin typeface="JetBrains Mono Medium"/>
              </a:rPr>
              <a:t>GET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/api/checkin/lookup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?query={PNR or passport}</a:t>
            </a:r>
          </a:p>
        </p:txBody>
      </p:sp>
      <p:sp>
        <p:nvSpPr>
          <p:cNvPr id="39" name="Step detail"/>
          <p:cNvSpPr txBox="1"/>
          <p:nvPr/>
        </p:nvSpPr>
        <p:spPr>
          <a:xfrm>
            <a:off x="749808" y="4672584"/>
            <a:ext cx="2199772" cy="1389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Search by PNR or passport; returns the traveller, the flight and any existing pass.</a:t>
            </a:r>
          </a:p>
        </p:txBody>
      </p:sp>
      <p:sp>
        <p:nvSpPr>
          <p:cNvPr id="40" name="Card"/>
          <p:cNvSpPr/>
          <p:nvPr/>
        </p:nvSpPr>
        <p:spPr>
          <a:xfrm>
            <a:off x="3379348" y="2697480"/>
            <a:ext cx="2602108" cy="3566160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1" name="Step badge"/>
          <p:cNvSpPr/>
          <p:nvPr/>
        </p:nvSpPr>
        <p:spPr>
          <a:xfrm>
            <a:off x="3580516" y="2898648"/>
            <a:ext cx="329184" cy="329184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2" name="Step number"/>
          <p:cNvSpPr txBox="1"/>
          <p:nvPr/>
        </p:nvSpPr>
        <p:spPr>
          <a:xfrm>
            <a:off x="3580516" y="28986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43" name="Chip"/>
          <p:cNvSpPr/>
          <p:nvPr/>
        </p:nvSpPr>
        <p:spPr>
          <a:xfrm>
            <a:off x="4877410" y="2935224"/>
            <a:ext cx="902879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4" name="Chip text"/>
          <p:cNvSpPr txBox="1"/>
          <p:nvPr/>
        </p:nvSpPr>
        <p:spPr>
          <a:xfrm>
            <a:off x="4877410" y="2935224"/>
            <a:ext cx="90287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Read only</a:t>
            </a:r>
          </a:p>
        </p:txBody>
      </p:sp>
      <p:sp>
        <p:nvSpPr>
          <p:cNvPr id="45" name="Step title"/>
          <p:cNvSpPr txBox="1"/>
          <p:nvPr/>
        </p:nvSpPr>
        <p:spPr>
          <a:xfrm>
            <a:off x="3580516" y="3355848"/>
            <a:ext cx="21997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0">
                <a:solidFill>
                  <a:srgbClr val="0F2942"/>
                </a:solidFill>
                <a:latin typeface="Plus Jakarta Sans"/>
              </a:rPr>
              <a:t>Read the seat map</a:t>
            </a:r>
          </a:p>
        </p:txBody>
      </p:sp>
      <p:sp>
        <p:nvSpPr>
          <p:cNvPr id="46" name="Endpoint box"/>
          <p:cNvSpPr/>
          <p:nvPr/>
        </p:nvSpPr>
        <p:spPr>
          <a:xfrm>
            <a:off x="3580516" y="3867912"/>
            <a:ext cx="2199772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7" name="Endpoint"/>
          <p:cNvSpPr txBox="1"/>
          <p:nvPr/>
        </p:nvSpPr>
        <p:spPr>
          <a:xfrm>
            <a:off x="3690244" y="3867912"/>
            <a:ext cx="1980316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0369A1"/>
                </a:solidFill>
                <a:latin typeface="JetBrains Mono Medium"/>
              </a:rPr>
              <a:t>GET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/api/checkin/flights/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{id}/seatmap</a:t>
            </a:r>
          </a:p>
        </p:txBody>
      </p:sp>
      <p:sp>
        <p:nvSpPr>
          <p:cNvPr id="48" name="Step detail"/>
          <p:cNvSpPr txBox="1"/>
          <p:nvPr/>
        </p:nvSpPr>
        <p:spPr>
          <a:xfrm>
            <a:off x="3580516" y="4672584"/>
            <a:ext cx="2199772" cy="1389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Occupied and free seats come straight from issued boarding passes.</a:t>
            </a:r>
          </a:p>
        </p:txBody>
      </p:sp>
      <p:sp>
        <p:nvSpPr>
          <p:cNvPr id="49" name="Card"/>
          <p:cNvSpPr/>
          <p:nvPr/>
        </p:nvSpPr>
        <p:spPr>
          <a:xfrm>
            <a:off x="6210148" y="2697480"/>
            <a:ext cx="2602108" cy="3566160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0" name="Step badge"/>
          <p:cNvSpPr/>
          <p:nvPr/>
        </p:nvSpPr>
        <p:spPr>
          <a:xfrm>
            <a:off x="6411316" y="2898648"/>
            <a:ext cx="329184" cy="329184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1" name="Step number"/>
          <p:cNvSpPr txBox="1"/>
          <p:nvPr/>
        </p:nvSpPr>
        <p:spPr>
          <a:xfrm>
            <a:off x="6411316" y="28986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52" name="Chip"/>
          <p:cNvSpPr/>
          <p:nvPr/>
        </p:nvSpPr>
        <p:spPr>
          <a:xfrm>
            <a:off x="7489119" y="2935224"/>
            <a:ext cx="1121969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3" name="Chip text"/>
          <p:cNvSpPr txBox="1"/>
          <p:nvPr/>
        </p:nvSpPr>
        <p:spPr>
          <a:xfrm>
            <a:off x="7489119" y="2935224"/>
            <a:ext cx="112196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5803D"/>
                </a:solidFill>
                <a:latin typeface="Outfit SemiBold"/>
              </a:rPr>
              <a:t>Transaction 1</a:t>
            </a:r>
          </a:p>
        </p:txBody>
      </p:sp>
      <p:sp>
        <p:nvSpPr>
          <p:cNvPr id="54" name="Step title"/>
          <p:cNvSpPr txBox="1"/>
          <p:nvPr/>
        </p:nvSpPr>
        <p:spPr>
          <a:xfrm>
            <a:off x="6411316" y="3355848"/>
            <a:ext cx="21997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0">
                <a:solidFill>
                  <a:srgbClr val="0F2942"/>
                </a:solidFill>
                <a:latin typeface="Plus Jakarta Sans"/>
              </a:rPr>
              <a:t>Issue the boarding pass</a:t>
            </a:r>
          </a:p>
        </p:txBody>
      </p:sp>
      <p:sp>
        <p:nvSpPr>
          <p:cNvPr id="55" name="Endpoint box"/>
          <p:cNvSpPr/>
          <p:nvPr/>
        </p:nvSpPr>
        <p:spPr>
          <a:xfrm>
            <a:off x="6411316" y="3867912"/>
            <a:ext cx="2199772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6" name="Endpoint"/>
          <p:cNvSpPr txBox="1"/>
          <p:nvPr/>
        </p:nvSpPr>
        <p:spPr>
          <a:xfrm>
            <a:off x="6521044" y="3867912"/>
            <a:ext cx="1980316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0369A1"/>
                </a:solidFill>
                <a:latin typeface="JetBrains Mono Medium"/>
              </a:rPr>
              <a:t>POST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/api/checkin/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issue-boarding-pass</a:t>
            </a:r>
          </a:p>
        </p:txBody>
      </p:sp>
      <p:sp>
        <p:nvSpPr>
          <p:cNvPr id="57" name="Step detail"/>
          <p:cNvSpPr txBox="1"/>
          <p:nvPr/>
        </p:nvSpPr>
        <p:spPr>
          <a:xfrm>
            <a:off x="6411316" y="4672584"/>
            <a:ext cx="2199772" cy="1389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Seat checked (409 if taken), then ticket number and IATA BCBP barcode data saved.</a:t>
            </a:r>
          </a:p>
        </p:txBody>
      </p:sp>
      <p:sp>
        <p:nvSpPr>
          <p:cNvPr id="58" name="Card"/>
          <p:cNvSpPr/>
          <p:nvPr/>
        </p:nvSpPr>
        <p:spPr>
          <a:xfrm>
            <a:off x="9040856" y="2697480"/>
            <a:ext cx="2602108" cy="3566160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9" name="Step badge"/>
          <p:cNvSpPr/>
          <p:nvPr/>
        </p:nvSpPr>
        <p:spPr>
          <a:xfrm>
            <a:off x="9242024" y="2898648"/>
            <a:ext cx="329184" cy="329184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0" name="Step number"/>
          <p:cNvSpPr txBox="1"/>
          <p:nvPr/>
        </p:nvSpPr>
        <p:spPr>
          <a:xfrm>
            <a:off x="9242024" y="28986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61" name="Chip"/>
          <p:cNvSpPr/>
          <p:nvPr/>
        </p:nvSpPr>
        <p:spPr>
          <a:xfrm>
            <a:off x="10292669" y="2935224"/>
            <a:ext cx="1149126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2" name="Chip text"/>
          <p:cNvSpPr txBox="1"/>
          <p:nvPr/>
        </p:nvSpPr>
        <p:spPr>
          <a:xfrm>
            <a:off x="10292669" y="2935224"/>
            <a:ext cx="114912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15803D"/>
                </a:solidFill>
                <a:latin typeface="Outfit SemiBold"/>
              </a:rPr>
              <a:t>Transaction 2</a:t>
            </a:r>
          </a:p>
        </p:txBody>
      </p:sp>
      <p:sp>
        <p:nvSpPr>
          <p:cNvPr id="63" name="Step title"/>
          <p:cNvSpPr txBox="1"/>
          <p:nvPr/>
        </p:nvSpPr>
        <p:spPr>
          <a:xfrm>
            <a:off x="9242024" y="3355848"/>
            <a:ext cx="21997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spc="-10">
                <a:solidFill>
                  <a:srgbClr val="0F2942"/>
                </a:solidFill>
                <a:latin typeface="Plus Jakarta Sans"/>
              </a:rPr>
              <a:t>Tag the baggage</a:t>
            </a:r>
          </a:p>
        </p:txBody>
      </p:sp>
      <p:sp>
        <p:nvSpPr>
          <p:cNvPr id="64" name="Endpoint box"/>
          <p:cNvSpPr/>
          <p:nvPr/>
        </p:nvSpPr>
        <p:spPr>
          <a:xfrm>
            <a:off x="9242024" y="3867912"/>
            <a:ext cx="2199772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5" name="Endpoint"/>
          <p:cNvSpPr txBox="1"/>
          <p:nvPr/>
        </p:nvSpPr>
        <p:spPr>
          <a:xfrm>
            <a:off x="9351752" y="3867912"/>
            <a:ext cx="1980316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0369A1"/>
                </a:solidFill>
                <a:latin typeface="JetBrains Mono Medium"/>
              </a:rPr>
              <a:t>POST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/api/checkin/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tag-baggage</a:t>
            </a:r>
          </a:p>
        </p:txBody>
      </p:sp>
      <p:sp>
        <p:nvSpPr>
          <p:cNvPr id="66" name="Step detail"/>
          <p:cNvSpPr txBox="1"/>
          <p:nvPr/>
        </p:nvSpPr>
        <p:spPr>
          <a:xfrm>
            <a:off x="9242024" y="4672584"/>
            <a:ext cx="2199772" cy="1389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Saves a 10-digit bag tag and a CHECKIN_DESK scan event together.</a:t>
            </a:r>
          </a:p>
        </p:txBody>
      </p:sp>
      <p:sp>
        <p:nvSpPr>
          <p:cNvPr id="67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68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14 / 22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04271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0427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07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62639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Collaborative object interaction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Collaboration Diagram: Turnaround Control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Objects linked by numbered messages, from the first ON_BLOCK update to pushback</a:t>
            </a:r>
          </a:p>
        </p:txBody>
      </p:sp>
      <p:sp>
        <p:nvSpPr>
          <p:cNvPr id="7" name="Diagram card"/>
          <p:cNvSpPr/>
          <p:nvPr/>
        </p:nvSpPr>
        <p:spPr>
          <a:xfrm>
            <a:off x="548640" y="1874520"/>
            <a:ext cx="7320046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pic>
        <p:nvPicPr>
          <p:cNvPr id="8" name="Diagram" descr="UML collaboration diagram with numbered messages between controller, services and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239899"/>
            <a:ext cx="7027438" cy="3658362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8097286" y="1874520"/>
            <a:ext cx="3545769" cy="438912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0" name="Card title"/>
          <p:cNvSpPr txBox="1"/>
          <p:nvPr/>
        </p:nvSpPr>
        <p:spPr>
          <a:xfrm>
            <a:off x="8298454" y="2075688"/>
            <a:ext cx="314343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Top-level messages</a:t>
            </a:r>
          </a:p>
        </p:txBody>
      </p:sp>
      <p:sp>
        <p:nvSpPr>
          <p:cNvPr id="11" name="Step badge"/>
          <p:cNvSpPr/>
          <p:nvPr/>
        </p:nvSpPr>
        <p:spPr>
          <a:xfrm>
            <a:off x="8298454" y="2532888"/>
            <a:ext cx="274320" cy="274320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2" name="Step number"/>
          <p:cNvSpPr txBox="1"/>
          <p:nvPr/>
        </p:nvSpPr>
        <p:spPr>
          <a:xfrm>
            <a:off x="8298454" y="25328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13" name="Message"/>
          <p:cNvSpPr txBox="1"/>
          <p:nvPr/>
        </p:nvSpPr>
        <p:spPr>
          <a:xfrm>
            <a:off x="8682502" y="2532888"/>
            <a:ext cx="275938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startTurnaround(flightId)</a:t>
            </a:r>
          </a:p>
        </p:txBody>
      </p:sp>
      <p:sp>
        <p:nvSpPr>
          <p:cNvPr id="14" name="Message effect"/>
          <p:cNvSpPr txBox="1"/>
          <p:nvPr/>
        </p:nvSpPr>
        <p:spPr>
          <a:xfrm>
            <a:off x="8682502" y="2825496"/>
            <a:ext cx="2759385" cy="3767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Flight set ON_BLOCK; turnaround tasks dispatched.</a:t>
            </a:r>
          </a:p>
        </p:txBody>
      </p:sp>
      <p:sp>
        <p:nvSpPr>
          <p:cNvPr id="15" name="Step badge"/>
          <p:cNvSpPr/>
          <p:nvPr/>
        </p:nvSpPr>
        <p:spPr>
          <a:xfrm>
            <a:off x="8298454" y="3238805"/>
            <a:ext cx="274320" cy="274320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Step number"/>
          <p:cNvSpPr txBox="1"/>
          <p:nvPr/>
        </p:nvSpPr>
        <p:spPr>
          <a:xfrm>
            <a:off x="8298454" y="323880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7" name="Message"/>
          <p:cNvSpPr txBox="1"/>
          <p:nvPr/>
        </p:nvSpPr>
        <p:spPr>
          <a:xfrm>
            <a:off x="8682502" y="3238805"/>
            <a:ext cx="275938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assignGateAndStand(gate, stand)</a:t>
            </a:r>
          </a:p>
        </p:txBody>
      </p:sp>
      <p:sp>
        <p:nvSpPr>
          <p:cNvPr id="18" name="Message effect"/>
          <p:cNvSpPr txBox="1"/>
          <p:nvPr/>
        </p:nvSpPr>
        <p:spPr>
          <a:xfrm>
            <a:off x="8682502" y="3531413"/>
            <a:ext cx="2759385" cy="3767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Wingspan and occupancy validated; stand RESERVED.</a:t>
            </a:r>
          </a:p>
        </p:txBody>
      </p:sp>
      <p:sp>
        <p:nvSpPr>
          <p:cNvPr id="19" name="Step badge"/>
          <p:cNvSpPr/>
          <p:nvPr/>
        </p:nvSpPr>
        <p:spPr>
          <a:xfrm>
            <a:off x="8298454" y="3944722"/>
            <a:ext cx="274320" cy="274320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Step number"/>
          <p:cNvSpPr txBox="1"/>
          <p:nvPr/>
        </p:nvSpPr>
        <p:spPr>
          <a:xfrm>
            <a:off x="8298454" y="394472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21" name="Message"/>
          <p:cNvSpPr txBox="1"/>
          <p:nvPr/>
        </p:nvSpPr>
        <p:spPr>
          <a:xfrm>
            <a:off x="8682502" y="3944722"/>
            <a:ext cx="275938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submitFuelData(liters, pin)</a:t>
            </a:r>
          </a:p>
        </p:txBody>
      </p:sp>
      <p:sp>
        <p:nvSpPr>
          <p:cNvPr id="22" name="Message effect"/>
          <p:cNvSpPr txBox="1"/>
          <p:nvPr/>
        </p:nvSpPr>
        <p:spPr>
          <a:xfrm>
            <a:off x="8682502" y="4237330"/>
            <a:ext cx="2759385" cy="3767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Fuel tolerance checked; inspector PIN verified.</a:t>
            </a:r>
          </a:p>
        </p:txBody>
      </p:sp>
      <p:sp>
        <p:nvSpPr>
          <p:cNvPr id="23" name="Step badge"/>
          <p:cNvSpPr/>
          <p:nvPr/>
        </p:nvSpPr>
        <p:spPr>
          <a:xfrm>
            <a:off x="8298454" y="4650638"/>
            <a:ext cx="274320" cy="274320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" name="Step number"/>
          <p:cNvSpPr txBox="1"/>
          <p:nvPr/>
        </p:nvSpPr>
        <p:spPr>
          <a:xfrm>
            <a:off x="8298454" y="465063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25" name="Message"/>
          <p:cNvSpPr txBox="1"/>
          <p:nvPr/>
        </p:nvSpPr>
        <p:spPr>
          <a:xfrm>
            <a:off x="8682502" y="4650638"/>
            <a:ext cx="275938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submitTaskCompletion(taskId, pin)</a:t>
            </a:r>
          </a:p>
        </p:txBody>
      </p:sp>
      <p:sp>
        <p:nvSpPr>
          <p:cNvPr id="26" name="Message effect"/>
          <p:cNvSpPr txBox="1"/>
          <p:nvPr/>
        </p:nvSpPr>
        <p:spPr>
          <a:xfrm>
            <a:off x="8682502" y="4943246"/>
            <a:ext cx="2759385" cy="3767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Task COMPLETED; audit trail written.</a:t>
            </a:r>
          </a:p>
        </p:txBody>
      </p:sp>
      <p:sp>
        <p:nvSpPr>
          <p:cNvPr id="27" name="Step badge"/>
          <p:cNvSpPr/>
          <p:nvPr/>
        </p:nvSpPr>
        <p:spPr>
          <a:xfrm>
            <a:off x="8298454" y="5356555"/>
            <a:ext cx="274320" cy="274320"/>
          </a:xfrm>
          <a:prstGeom prst="ellipse">
            <a:avLst/>
          </a:prstGeom>
          <a:solidFill>
            <a:srgbClr val="0F294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8" name="Step number"/>
          <p:cNvSpPr txBox="1"/>
          <p:nvPr/>
        </p:nvSpPr>
        <p:spPr>
          <a:xfrm>
            <a:off x="8298454" y="535655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Outfit"/>
              </a:rPr>
              <a:t>5</a:t>
            </a:r>
          </a:p>
        </p:txBody>
      </p:sp>
      <p:sp>
        <p:nvSpPr>
          <p:cNvPr id="29" name="Message"/>
          <p:cNvSpPr txBox="1"/>
          <p:nvPr/>
        </p:nvSpPr>
        <p:spPr>
          <a:xfrm>
            <a:off x="8682502" y="5356555"/>
            <a:ext cx="275938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requestPushback(flightId)</a:t>
            </a:r>
          </a:p>
        </p:txBody>
      </p:sp>
      <p:sp>
        <p:nvSpPr>
          <p:cNvPr id="30" name="Message effect"/>
          <p:cNvSpPr txBox="1"/>
          <p:nvPr/>
        </p:nvSpPr>
        <p:spPr>
          <a:xfrm>
            <a:off x="8682502" y="5649163"/>
            <a:ext cx="2759385" cy="3767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75569"/>
                </a:solidFill>
                <a:latin typeface="Inter"/>
              </a:rPr>
              <a:t>Stand released; flight DEPARTED.</a:t>
            </a:r>
          </a:p>
        </p:txBody>
      </p:sp>
      <p:sp>
        <p:nvSpPr>
          <p:cNvPr id="31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32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15 / 22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13141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1314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08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71509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Data flow architecture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Data Flow Diagrams: Level 0 &amp; Level 1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The system in its context, then decomposed into five processes and five data stores</a:t>
            </a:r>
          </a:p>
        </p:txBody>
      </p:sp>
      <p:sp>
        <p:nvSpPr>
          <p:cNvPr id="7" name="Diagram card"/>
          <p:cNvSpPr/>
          <p:nvPr/>
        </p:nvSpPr>
        <p:spPr>
          <a:xfrm>
            <a:off x="548640" y="1874520"/>
            <a:ext cx="5962437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8" name="Figure caption"/>
          <p:cNvSpPr txBox="1"/>
          <p:nvPr/>
        </p:nvSpPr>
        <p:spPr>
          <a:xfrm>
            <a:off x="731520" y="1984248"/>
            <a:ext cx="5669829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Level 0 · context diagram</a:t>
            </a:r>
          </a:p>
        </p:txBody>
      </p:sp>
      <p:pic>
        <p:nvPicPr>
          <p:cNvPr id="9" name="Diagram" descr="DFD level 0 context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92" y="2276856"/>
            <a:ext cx="5056932" cy="2377440"/>
          </a:xfrm>
          <a:prstGeom prst="rect">
            <a:avLst/>
          </a:prstGeom>
        </p:spPr>
      </p:pic>
      <p:sp>
        <p:nvSpPr>
          <p:cNvPr id="10" name="Diagram card"/>
          <p:cNvSpPr/>
          <p:nvPr/>
        </p:nvSpPr>
        <p:spPr>
          <a:xfrm>
            <a:off x="6739677" y="1874520"/>
            <a:ext cx="4903379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1" name="Figure caption"/>
          <p:cNvSpPr txBox="1"/>
          <p:nvPr/>
        </p:nvSpPr>
        <p:spPr>
          <a:xfrm>
            <a:off x="6922557" y="1984248"/>
            <a:ext cx="4610771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Level 1 · subsystem decomposition</a:t>
            </a:r>
          </a:p>
        </p:txBody>
      </p:sp>
      <p:pic>
        <p:nvPicPr>
          <p:cNvPr id="12" name="Diagram" descr="DFD level 1 with five processes and five data sto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388" y="2276856"/>
            <a:ext cx="3997956" cy="2377440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548640" y="5029200"/>
            <a:ext cx="5962437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4" name="Group title"/>
          <p:cNvSpPr txBox="1"/>
          <p:nvPr/>
        </p:nvSpPr>
        <p:spPr>
          <a:xfrm>
            <a:off x="749808" y="5175504"/>
            <a:ext cx="5560101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spc="-10">
                <a:solidFill>
                  <a:srgbClr val="0F2942"/>
                </a:solidFill>
                <a:latin typeface="Plus Jakarta Sans"/>
              </a:rPr>
              <a:t>External entities (6)</a:t>
            </a:r>
          </a:p>
        </p:txBody>
      </p:sp>
      <p:sp>
        <p:nvSpPr>
          <p:cNvPr id="15" name="Chip"/>
          <p:cNvSpPr/>
          <p:nvPr/>
        </p:nvSpPr>
        <p:spPr>
          <a:xfrm>
            <a:off x="749808" y="5504688"/>
            <a:ext cx="1429390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Chip text"/>
          <p:cNvSpPr txBox="1"/>
          <p:nvPr/>
        </p:nvSpPr>
        <p:spPr>
          <a:xfrm>
            <a:off x="749808" y="5504688"/>
            <a:ext cx="142939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Airline dispatcher</a:t>
            </a:r>
          </a:p>
        </p:txBody>
      </p:sp>
      <p:sp>
        <p:nvSpPr>
          <p:cNvPr id="17" name="Chip"/>
          <p:cNvSpPr/>
          <p:nvPr/>
        </p:nvSpPr>
        <p:spPr>
          <a:xfrm>
            <a:off x="2270638" y="5504688"/>
            <a:ext cx="1007212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Chip text"/>
          <p:cNvSpPr txBox="1"/>
          <p:nvPr/>
        </p:nvSpPr>
        <p:spPr>
          <a:xfrm>
            <a:off x="2270638" y="5504688"/>
            <a:ext cx="10072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Passengers</a:t>
            </a:r>
          </a:p>
        </p:txBody>
      </p:sp>
      <p:sp>
        <p:nvSpPr>
          <p:cNvPr id="19" name="Chip"/>
          <p:cNvSpPr/>
          <p:nvPr/>
        </p:nvSpPr>
        <p:spPr>
          <a:xfrm>
            <a:off x="3369290" y="5504688"/>
            <a:ext cx="1400952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Chip text"/>
          <p:cNvSpPr txBox="1"/>
          <p:nvPr/>
        </p:nvSpPr>
        <p:spPr>
          <a:xfrm>
            <a:off x="3369290" y="5504688"/>
            <a:ext cx="14009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Air traffic control</a:t>
            </a:r>
          </a:p>
        </p:txBody>
      </p:sp>
      <p:sp>
        <p:nvSpPr>
          <p:cNvPr id="21" name="Chip"/>
          <p:cNvSpPr/>
          <p:nvPr/>
        </p:nvSpPr>
        <p:spPr>
          <a:xfrm>
            <a:off x="749808" y="5852160"/>
            <a:ext cx="1629369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" name="Chip text"/>
          <p:cNvSpPr txBox="1"/>
          <p:nvPr/>
        </p:nvSpPr>
        <p:spPr>
          <a:xfrm>
            <a:off x="749808" y="5852160"/>
            <a:ext cx="162936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AOCC &amp; ground staff</a:t>
            </a:r>
          </a:p>
        </p:txBody>
      </p:sp>
      <p:sp>
        <p:nvSpPr>
          <p:cNvPr id="23" name="Chip"/>
          <p:cNvSpPr/>
          <p:nvPr/>
        </p:nvSpPr>
        <p:spPr>
          <a:xfrm>
            <a:off x="2470617" y="5852160"/>
            <a:ext cx="1488003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" name="Chip text"/>
          <p:cNvSpPr txBox="1"/>
          <p:nvPr/>
        </p:nvSpPr>
        <p:spPr>
          <a:xfrm>
            <a:off x="2470617" y="5852160"/>
            <a:ext cx="1488003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Ramp &amp; fuel teams</a:t>
            </a:r>
          </a:p>
        </p:txBody>
      </p:sp>
      <p:sp>
        <p:nvSpPr>
          <p:cNvPr id="25" name="Chip"/>
          <p:cNvSpPr/>
          <p:nvPr/>
        </p:nvSpPr>
        <p:spPr>
          <a:xfrm>
            <a:off x="4049969" y="5852160"/>
            <a:ext cx="1356330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" name="Chip text"/>
          <p:cNvSpPr txBox="1"/>
          <p:nvPr/>
        </p:nvSpPr>
        <p:spPr>
          <a:xfrm>
            <a:off x="4049969" y="5852160"/>
            <a:ext cx="135633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75569"/>
                </a:solidFill>
                <a:latin typeface="Outfit SemiBold"/>
              </a:rPr>
              <a:t>Security services</a:t>
            </a:r>
          </a:p>
        </p:txBody>
      </p:sp>
      <p:sp>
        <p:nvSpPr>
          <p:cNvPr id="27" name="Card"/>
          <p:cNvSpPr/>
          <p:nvPr/>
        </p:nvSpPr>
        <p:spPr>
          <a:xfrm>
            <a:off x="6739677" y="5029200"/>
            <a:ext cx="4903379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8" name="Group title"/>
          <p:cNvSpPr txBox="1"/>
          <p:nvPr/>
        </p:nvSpPr>
        <p:spPr>
          <a:xfrm>
            <a:off x="6940845" y="5175504"/>
            <a:ext cx="450104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spc="-10">
                <a:solidFill>
                  <a:srgbClr val="0F2942"/>
                </a:solidFill>
                <a:latin typeface="Plus Jakarta Sans"/>
              </a:rPr>
              <a:t>Processes (5) · data stores D1 to D5</a:t>
            </a:r>
          </a:p>
        </p:txBody>
      </p:sp>
      <p:sp>
        <p:nvSpPr>
          <p:cNvPr id="29" name="Chip"/>
          <p:cNvSpPr/>
          <p:nvPr/>
        </p:nvSpPr>
        <p:spPr>
          <a:xfrm>
            <a:off x="6940845" y="5504688"/>
            <a:ext cx="1304483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" name="Chip text"/>
          <p:cNvSpPr txBox="1"/>
          <p:nvPr/>
        </p:nvSpPr>
        <p:spPr>
          <a:xfrm>
            <a:off x="6940845" y="5504688"/>
            <a:ext cx="1304483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Flight schedules</a:t>
            </a:r>
          </a:p>
        </p:txBody>
      </p:sp>
      <p:sp>
        <p:nvSpPr>
          <p:cNvPr id="31" name="Chip"/>
          <p:cNvSpPr/>
          <p:nvPr/>
        </p:nvSpPr>
        <p:spPr>
          <a:xfrm>
            <a:off x="8336768" y="5504688"/>
            <a:ext cx="1243767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" name="Chip text"/>
          <p:cNvSpPr txBox="1"/>
          <p:nvPr/>
        </p:nvSpPr>
        <p:spPr>
          <a:xfrm>
            <a:off x="8336768" y="5504688"/>
            <a:ext cx="124376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Gates &amp; stands</a:t>
            </a:r>
          </a:p>
        </p:txBody>
      </p:sp>
      <p:sp>
        <p:nvSpPr>
          <p:cNvPr id="33" name="Chip"/>
          <p:cNvSpPr/>
          <p:nvPr/>
        </p:nvSpPr>
        <p:spPr>
          <a:xfrm>
            <a:off x="9671975" y="5504688"/>
            <a:ext cx="1479042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" name="Chip text"/>
          <p:cNvSpPr txBox="1"/>
          <p:nvPr/>
        </p:nvSpPr>
        <p:spPr>
          <a:xfrm>
            <a:off x="9671975" y="5504688"/>
            <a:ext cx="147904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Passengers &amp; bags</a:t>
            </a:r>
          </a:p>
        </p:txBody>
      </p:sp>
      <p:sp>
        <p:nvSpPr>
          <p:cNvPr id="35" name="Chip"/>
          <p:cNvSpPr/>
          <p:nvPr/>
        </p:nvSpPr>
        <p:spPr>
          <a:xfrm>
            <a:off x="6940845" y="5852160"/>
            <a:ext cx="1026323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" name="Chip text"/>
          <p:cNvSpPr txBox="1"/>
          <p:nvPr/>
        </p:nvSpPr>
        <p:spPr>
          <a:xfrm>
            <a:off x="6940845" y="5852160"/>
            <a:ext cx="1026323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Turnaround</a:t>
            </a:r>
          </a:p>
        </p:txBody>
      </p:sp>
      <p:sp>
        <p:nvSpPr>
          <p:cNvPr id="37" name="Chip"/>
          <p:cNvSpPr/>
          <p:nvPr/>
        </p:nvSpPr>
        <p:spPr>
          <a:xfrm>
            <a:off x="8058516" y="5852160"/>
            <a:ext cx="1273851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" name="Chip text"/>
          <p:cNvSpPr txBox="1"/>
          <p:nvPr/>
        </p:nvSpPr>
        <p:spPr>
          <a:xfrm>
            <a:off x="8058516" y="5852160"/>
            <a:ext cx="127385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Airside security</a:t>
            </a:r>
          </a:p>
        </p:txBody>
      </p:sp>
      <p:sp>
        <p:nvSpPr>
          <p:cNvPr id="39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40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16 / 22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907542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90754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Database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565910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Database engineering and schema design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Relational Database Schema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43 tables in third normal form on PostgreSQL, built by 17 Flyway migrations (V1 to V20)</a:t>
            </a:r>
          </a:p>
        </p:txBody>
      </p:sp>
      <p:sp>
        <p:nvSpPr>
          <p:cNvPr id="7" name="Diagram card"/>
          <p:cNvSpPr/>
          <p:nvPr/>
        </p:nvSpPr>
        <p:spPr>
          <a:xfrm>
            <a:off x="548640" y="1874520"/>
            <a:ext cx="4489338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pic>
        <p:nvPicPr>
          <p:cNvPr id="8" name="Diagram" descr="Relational schema grouped into six functional doma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020824"/>
            <a:ext cx="4196730" cy="3332988"/>
          </a:xfrm>
          <a:prstGeom prst="rect">
            <a:avLst/>
          </a:prstGeom>
        </p:spPr>
      </p:pic>
      <p:sp>
        <p:nvSpPr>
          <p:cNvPr id="9" name="Note box"/>
          <p:cNvSpPr/>
          <p:nvPr/>
        </p:nvSpPr>
        <p:spPr>
          <a:xfrm>
            <a:off x="694944" y="5481828"/>
            <a:ext cx="4196730" cy="635508"/>
          </a:xfrm>
          <a:prstGeom prst="roundRect">
            <a:avLst>
              <a:gd name="adj" fmla="val 1151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Note"/>
          <p:cNvSpPr txBox="1"/>
          <p:nvPr/>
        </p:nvSpPr>
        <p:spPr>
          <a:xfrm>
            <a:off x="822960" y="5481828"/>
            <a:ext cx="3940698" cy="6355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0369A1"/>
                </a:solidFill>
                <a:latin typeface="Inter"/>
              </a:rPr>
              <a:t>The figure shows 41 tables. The live database adds notifications and security_incidents, for 43 in total.</a:t>
            </a:r>
          </a:p>
        </p:txBody>
      </p:sp>
      <p:sp>
        <p:nvSpPr>
          <p:cNvPr id="11" name="Card"/>
          <p:cNvSpPr/>
          <p:nvPr/>
        </p:nvSpPr>
        <p:spPr>
          <a:xfrm>
            <a:off x="5266578" y="1874520"/>
            <a:ext cx="6376477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2" name="Card title"/>
          <p:cNvSpPr txBox="1"/>
          <p:nvPr/>
        </p:nvSpPr>
        <p:spPr>
          <a:xfrm>
            <a:off x="5467746" y="2075688"/>
            <a:ext cx="597414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Six functional domains</a:t>
            </a:r>
          </a:p>
        </p:txBody>
      </p:sp>
      <p:sp>
        <p:nvSpPr>
          <p:cNvPr id="13" name="Domain"/>
          <p:cNvSpPr txBox="1"/>
          <p:nvPr/>
        </p:nvSpPr>
        <p:spPr>
          <a:xfrm>
            <a:off x="5467746" y="2478024"/>
            <a:ext cx="211839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-10">
                <a:solidFill>
                  <a:srgbClr val="0F2942"/>
                </a:solidFill>
                <a:latin typeface="Plus Jakarta Sans"/>
              </a:rPr>
              <a:t>Security &amp; identity</a:t>
            </a:r>
          </a:p>
        </p:txBody>
      </p:sp>
      <p:sp>
        <p:nvSpPr>
          <p:cNvPr id="14" name="Chip"/>
          <p:cNvSpPr/>
          <p:nvPr/>
        </p:nvSpPr>
        <p:spPr>
          <a:xfrm>
            <a:off x="7545629" y="2468880"/>
            <a:ext cx="772028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" name="Chip text"/>
          <p:cNvSpPr txBox="1"/>
          <p:nvPr/>
        </p:nvSpPr>
        <p:spPr>
          <a:xfrm>
            <a:off x="7545629" y="2468880"/>
            <a:ext cx="77202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5 tables</a:t>
            </a:r>
          </a:p>
        </p:txBody>
      </p:sp>
      <p:sp>
        <p:nvSpPr>
          <p:cNvPr id="16" name="Domain tables"/>
          <p:cNvSpPr txBox="1"/>
          <p:nvPr/>
        </p:nvSpPr>
        <p:spPr>
          <a:xfrm>
            <a:off x="5467746" y="2743200"/>
            <a:ext cx="2849910" cy="3611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roles, departments, users, user_phone_numbers, auth_sessions</a:t>
            </a:r>
          </a:p>
        </p:txBody>
      </p:sp>
      <p:sp>
        <p:nvSpPr>
          <p:cNvPr id="17" name="Domain"/>
          <p:cNvSpPr txBox="1"/>
          <p:nvPr/>
        </p:nvSpPr>
        <p:spPr>
          <a:xfrm>
            <a:off x="5467746" y="3232404"/>
            <a:ext cx="211839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-10">
                <a:solidFill>
                  <a:srgbClr val="0F2942"/>
                </a:solidFill>
                <a:latin typeface="Plus Jakarta Sans"/>
              </a:rPr>
              <a:t>Aerodrome &amp; airfield</a:t>
            </a:r>
          </a:p>
        </p:txBody>
      </p:sp>
      <p:sp>
        <p:nvSpPr>
          <p:cNvPr id="18" name="Chip"/>
          <p:cNvSpPr/>
          <p:nvPr/>
        </p:nvSpPr>
        <p:spPr>
          <a:xfrm>
            <a:off x="7545354" y="3223260"/>
            <a:ext cx="772302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Chip text"/>
          <p:cNvSpPr txBox="1"/>
          <p:nvPr/>
        </p:nvSpPr>
        <p:spPr>
          <a:xfrm>
            <a:off x="7545354" y="3223260"/>
            <a:ext cx="77230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8 tables</a:t>
            </a:r>
          </a:p>
        </p:txBody>
      </p:sp>
      <p:sp>
        <p:nvSpPr>
          <p:cNvPr id="20" name="Domain tables"/>
          <p:cNvSpPr txBox="1"/>
          <p:nvPr/>
        </p:nvSpPr>
        <p:spPr>
          <a:xfrm>
            <a:off x="5467746" y="3497580"/>
            <a:ext cx="2849910" cy="3611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airlines, airports, aircraft_types, aircraft, gates, checkin_counters, stands, runways</a:t>
            </a:r>
          </a:p>
        </p:txBody>
      </p:sp>
      <p:sp>
        <p:nvSpPr>
          <p:cNvPr id="21" name="Domain"/>
          <p:cNvSpPr txBox="1"/>
          <p:nvPr/>
        </p:nvSpPr>
        <p:spPr>
          <a:xfrm>
            <a:off x="5467746" y="3986784"/>
            <a:ext cx="211839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-10">
                <a:solidFill>
                  <a:srgbClr val="0F2942"/>
                </a:solidFill>
                <a:latin typeface="Plus Jakarta Sans"/>
              </a:rPr>
              <a:t>Flight operations</a:t>
            </a:r>
          </a:p>
        </p:txBody>
      </p:sp>
      <p:sp>
        <p:nvSpPr>
          <p:cNvPr id="22" name="Chip"/>
          <p:cNvSpPr/>
          <p:nvPr/>
        </p:nvSpPr>
        <p:spPr>
          <a:xfrm>
            <a:off x="7545629" y="3977640"/>
            <a:ext cx="772028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Chip text"/>
          <p:cNvSpPr txBox="1"/>
          <p:nvPr/>
        </p:nvSpPr>
        <p:spPr>
          <a:xfrm>
            <a:off x="7545629" y="3977640"/>
            <a:ext cx="77202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5 tables</a:t>
            </a:r>
          </a:p>
        </p:txBody>
      </p:sp>
      <p:sp>
        <p:nvSpPr>
          <p:cNvPr id="24" name="Domain tables"/>
          <p:cNvSpPr txBox="1"/>
          <p:nvPr/>
        </p:nvSpPr>
        <p:spPr>
          <a:xfrm>
            <a:off x="5467746" y="4251960"/>
            <a:ext cx="2849910" cy="3611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weather_reports, gate_assignment_rules, flights, delay_codes, delay_logs</a:t>
            </a:r>
          </a:p>
        </p:txBody>
      </p:sp>
      <p:sp>
        <p:nvSpPr>
          <p:cNvPr id="25" name="Domain"/>
          <p:cNvSpPr txBox="1"/>
          <p:nvPr/>
        </p:nvSpPr>
        <p:spPr>
          <a:xfrm>
            <a:off x="5467746" y="4741164"/>
            <a:ext cx="211839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-10">
                <a:solidFill>
                  <a:srgbClr val="0F2942"/>
                </a:solidFill>
                <a:latin typeface="Plus Jakarta Sans"/>
              </a:rPr>
              <a:t>Airside turnaround</a:t>
            </a:r>
          </a:p>
        </p:txBody>
      </p:sp>
      <p:sp>
        <p:nvSpPr>
          <p:cNvPr id="26" name="Chip"/>
          <p:cNvSpPr/>
          <p:nvPr/>
        </p:nvSpPr>
        <p:spPr>
          <a:xfrm>
            <a:off x="7545629" y="4732020"/>
            <a:ext cx="772028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Chip text"/>
          <p:cNvSpPr txBox="1"/>
          <p:nvPr/>
        </p:nvSpPr>
        <p:spPr>
          <a:xfrm>
            <a:off x="7545629" y="4732020"/>
            <a:ext cx="77202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5 tables</a:t>
            </a:r>
          </a:p>
        </p:txBody>
      </p:sp>
      <p:sp>
        <p:nvSpPr>
          <p:cNvPr id="28" name="Domain tables"/>
          <p:cNvSpPr txBox="1"/>
          <p:nvPr/>
        </p:nvSpPr>
        <p:spPr>
          <a:xfrm>
            <a:off x="5467746" y="5006340"/>
            <a:ext cx="2849910" cy="5326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tasks, ground_equipment, equipment_assignments, fuel_logs, shift_handover_logs</a:t>
            </a:r>
          </a:p>
        </p:txBody>
      </p:sp>
      <p:sp>
        <p:nvSpPr>
          <p:cNvPr id="29" name="Domain"/>
          <p:cNvSpPr txBox="1"/>
          <p:nvPr/>
        </p:nvSpPr>
        <p:spPr>
          <a:xfrm>
            <a:off x="8591977" y="2478024"/>
            <a:ext cx="211839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-10">
                <a:solidFill>
                  <a:srgbClr val="0F2942"/>
                </a:solidFill>
                <a:latin typeface="Plus Jakarta Sans"/>
              </a:rPr>
              <a:t>Passenger &amp; baggage</a:t>
            </a:r>
          </a:p>
        </p:txBody>
      </p:sp>
      <p:sp>
        <p:nvSpPr>
          <p:cNvPr id="30" name="Chip"/>
          <p:cNvSpPr/>
          <p:nvPr/>
        </p:nvSpPr>
        <p:spPr>
          <a:xfrm>
            <a:off x="10616275" y="2468880"/>
            <a:ext cx="825612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Chip text"/>
          <p:cNvSpPr txBox="1"/>
          <p:nvPr/>
        </p:nvSpPr>
        <p:spPr>
          <a:xfrm>
            <a:off x="10616275" y="2468880"/>
            <a:ext cx="82561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12 tables</a:t>
            </a:r>
          </a:p>
        </p:txBody>
      </p:sp>
      <p:sp>
        <p:nvSpPr>
          <p:cNvPr id="32" name="Domain tables"/>
          <p:cNvSpPr txBox="1"/>
          <p:nvPr/>
        </p:nvSpPr>
        <p:spPr>
          <a:xfrm>
            <a:off x="8591977" y="2743200"/>
            <a:ext cx="2849910" cy="10469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travelers, passengers, boarding_passes, bag_tags, baggage_scan_events, mishandled_baggage, security_checkpoints, passenger_clearance_logs, immigration_records, lounge_visits, baggage_carousels, lost_and_found_items</a:t>
            </a:r>
          </a:p>
        </p:txBody>
      </p:sp>
      <p:sp>
        <p:nvSpPr>
          <p:cNvPr id="33" name="Domain"/>
          <p:cNvSpPr txBox="1"/>
          <p:nvPr/>
        </p:nvSpPr>
        <p:spPr>
          <a:xfrm>
            <a:off x="8591977" y="3918204"/>
            <a:ext cx="211839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spc="-10">
                <a:solidFill>
                  <a:srgbClr val="0F2942"/>
                </a:solidFill>
                <a:latin typeface="Plus Jakarta Sans"/>
              </a:rPr>
              <a:t>Commercial &amp; audit</a:t>
            </a:r>
          </a:p>
        </p:txBody>
      </p:sp>
      <p:sp>
        <p:nvSpPr>
          <p:cNvPr id="34" name="Chip"/>
          <p:cNvSpPr/>
          <p:nvPr/>
        </p:nvSpPr>
        <p:spPr>
          <a:xfrm>
            <a:off x="10667665" y="3909060"/>
            <a:ext cx="774222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" name="Chip text"/>
          <p:cNvSpPr txBox="1"/>
          <p:nvPr/>
        </p:nvSpPr>
        <p:spPr>
          <a:xfrm>
            <a:off x="10667665" y="3909060"/>
            <a:ext cx="77422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6 tables</a:t>
            </a:r>
          </a:p>
        </p:txBody>
      </p:sp>
      <p:sp>
        <p:nvSpPr>
          <p:cNvPr id="36" name="Domain tables"/>
          <p:cNvSpPr txBox="1"/>
          <p:nvPr/>
        </p:nvSpPr>
        <p:spPr>
          <a:xfrm>
            <a:off x="8591977" y="4183380"/>
            <a:ext cx="2849910" cy="5326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cargo_manifests, customer_feedback_logs, airline_billing_invoices, invoice_line_items, operational_inquiries, audit_logs</a:t>
            </a:r>
          </a:p>
        </p:txBody>
      </p:sp>
      <p:cxnSp>
        <p:nvCxnSpPr>
          <p:cNvPr id="37" name="Column divider"/>
          <p:cNvCxnSpPr/>
          <p:nvPr/>
        </p:nvCxnSpPr>
        <p:spPr>
          <a:xfrm>
            <a:off x="8454817" y="2514600"/>
            <a:ext cx="0" cy="3502152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38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39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17 / 22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907542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90754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Database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565910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Database engineering and data warehouse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Star Schema for OLAP Analytics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A denormalised model for turnaround KPIs, separate from the operational tables</a:t>
            </a:r>
          </a:p>
        </p:txBody>
      </p:sp>
      <p:sp>
        <p:nvSpPr>
          <p:cNvPr id="7" name="Diagram card"/>
          <p:cNvSpPr/>
          <p:nvPr/>
        </p:nvSpPr>
        <p:spPr>
          <a:xfrm>
            <a:off x="548640" y="1874520"/>
            <a:ext cx="7320046" cy="3008742"/>
          </a:xfrm>
          <a:prstGeom prst="roundRect">
            <a:avLst>
              <a:gd name="adj" fmla="val 42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pic>
        <p:nvPicPr>
          <p:cNvPr id="8" name="Diagram" descr="Star schema with FACT_FLIGHT_TURNAROUND and ten dimens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59" y="2020824"/>
            <a:ext cx="7027409" cy="2716134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548640" y="5111862"/>
            <a:ext cx="7320046" cy="1151778"/>
          </a:xfrm>
          <a:prstGeom prst="roundRect">
            <a:avLst>
              <a:gd name="adj" fmla="val 111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0" name="Card title"/>
          <p:cNvSpPr txBox="1"/>
          <p:nvPr/>
        </p:nvSpPr>
        <p:spPr>
          <a:xfrm>
            <a:off x="749808" y="5258166"/>
            <a:ext cx="691771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spc="-10">
                <a:solidFill>
                  <a:srgbClr val="0F2942"/>
                </a:solidFill>
                <a:latin typeface="Plus Jakarta Sans"/>
              </a:rPr>
              <a:t>16 measures in FACT_FLIGHT_TURNAROUND</a:t>
            </a:r>
          </a:p>
        </p:txBody>
      </p:sp>
      <p:sp>
        <p:nvSpPr>
          <p:cNvPr id="11" name="Measures"/>
          <p:cNvSpPr txBox="1"/>
          <p:nvPr/>
        </p:nvSpPr>
        <p:spPr>
          <a:xfrm>
            <a:off x="749808" y="5569062"/>
            <a:ext cx="6917710" cy="6031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Planned, actual and variance turnaround minutes · efficiency % · total, ground and air delay minutes · delay incidents · passengers · lounge visits · baggage units · cargo kg · fuel litres · tasks assigned, on time and delayed</a:t>
            </a:r>
          </a:p>
        </p:txBody>
      </p:sp>
      <p:sp>
        <p:nvSpPr>
          <p:cNvPr id="12" name="Card"/>
          <p:cNvSpPr/>
          <p:nvPr/>
        </p:nvSpPr>
        <p:spPr>
          <a:xfrm>
            <a:off x="8097286" y="1874520"/>
            <a:ext cx="3545769" cy="438912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3" name="Card title"/>
          <p:cNvSpPr txBox="1"/>
          <p:nvPr/>
        </p:nvSpPr>
        <p:spPr>
          <a:xfrm>
            <a:off x="8298454" y="2075688"/>
            <a:ext cx="314343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OLTP vs OLAP</a:t>
            </a:r>
          </a:p>
        </p:txBody>
      </p:sp>
      <p:sp>
        <p:nvSpPr>
          <p:cNvPr id="14" name="Stat"/>
          <p:cNvSpPr txBox="1"/>
          <p:nvPr/>
        </p:nvSpPr>
        <p:spPr>
          <a:xfrm>
            <a:off x="8298454" y="2478024"/>
            <a:ext cx="1047811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 i="0">
                <a:solidFill>
                  <a:srgbClr val="0F2942"/>
                </a:solidFill>
                <a:latin typeface="Outfit ExtraBold"/>
              </a:rPr>
              <a:t>1</a:t>
            </a:r>
          </a:p>
        </p:txBody>
      </p:sp>
      <p:sp>
        <p:nvSpPr>
          <p:cNvPr id="15" name="Stat label"/>
          <p:cNvSpPr txBox="1"/>
          <p:nvPr/>
        </p:nvSpPr>
        <p:spPr>
          <a:xfrm>
            <a:off x="8298454" y="2862072"/>
            <a:ext cx="1047811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fact table</a:t>
            </a:r>
          </a:p>
        </p:txBody>
      </p:sp>
      <p:sp>
        <p:nvSpPr>
          <p:cNvPr id="16" name="Stat"/>
          <p:cNvSpPr txBox="1"/>
          <p:nvPr/>
        </p:nvSpPr>
        <p:spPr>
          <a:xfrm>
            <a:off x="9346265" y="2478024"/>
            <a:ext cx="1047811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 i="0">
                <a:solidFill>
                  <a:srgbClr val="0F2942"/>
                </a:solidFill>
                <a:latin typeface="Outfit ExtraBold"/>
              </a:rPr>
              <a:t>10</a:t>
            </a:r>
          </a:p>
        </p:txBody>
      </p:sp>
      <p:sp>
        <p:nvSpPr>
          <p:cNvPr id="17" name="Stat label"/>
          <p:cNvSpPr txBox="1"/>
          <p:nvPr/>
        </p:nvSpPr>
        <p:spPr>
          <a:xfrm>
            <a:off x="9346265" y="2862072"/>
            <a:ext cx="1047811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dimensions</a:t>
            </a:r>
          </a:p>
        </p:txBody>
      </p:sp>
      <p:sp>
        <p:nvSpPr>
          <p:cNvPr id="18" name="Stat"/>
          <p:cNvSpPr txBox="1"/>
          <p:nvPr/>
        </p:nvSpPr>
        <p:spPr>
          <a:xfrm>
            <a:off x="10394076" y="2478024"/>
            <a:ext cx="1047811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 i="0">
                <a:solidFill>
                  <a:srgbClr val="0F2942"/>
                </a:solidFill>
                <a:latin typeface="Outfit ExtraBold"/>
              </a:rPr>
              <a:t>16</a:t>
            </a:r>
          </a:p>
        </p:txBody>
      </p:sp>
      <p:sp>
        <p:nvSpPr>
          <p:cNvPr id="19" name="Stat label"/>
          <p:cNvSpPr txBox="1"/>
          <p:nvPr/>
        </p:nvSpPr>
        <p:spPr>
          <a:xfrm>
            <a:off x="10394076" y="2862072"/>
            <a:ext cx="1047811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Outfit SemiBold"/>
              </a:rPr>
              <a:t>measures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8298454" y="3172968"/>
            <a:ext cx="3143433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369A1"/>
                </a:solidFill>
                <a:latin typeface="Outfit SemiBold"/>
              </a:rPr>
              <a:t>Grain</a:t>
            </a:r>
          </a:p>
        </p:txBody>
      </p:sp>
      <p:sp>
        <p:nvSpPr>
          <p:cNvPr id="21" name="Block"/>
          <p:cNvSpPr txBox="1"/>
          <p:nvPr/>
        </p:nvSpPr>
        <p:spPr>
          <a:xfrm>
            <a:off x="8298454" y="3392424"/>
            <a:ext cx="3143433" cy="3993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0F2942"/>
                </a:solidFill>
                <a:latin typeface="Inter SemiBold"/>
              </a:rPr>
              <a:t>One row per completed aircraft turnaround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8298454" y="3919758"/>
            <a:ext cx="3143433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369A1"/>
                </a:solidFill>
                <a:latin typeface="Outfit SemiBold"/>
              </a:rPr>
              <a:t>Why keep it separate</a:t>
            </a:r>
          </a:p>
        </p:txBody>
      </p:sp>
      <p:sp>
        <p:nvSpPr>
          <p:cNvPr id="23" name="Block"/>
          <p:cNvSpPr txBox="1"/>
          <p:nvPr/>
        </p:nvSpPr>
        <p:spPr>
          <a:xfrm>
            <a:off x="8298454" y="4139214"/>
            <a:ext cx="3143433" cy="8310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The 43 operational tables stay in 3NF for safe writes. The star schema denormalises them so KPI queries never lock production tables.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8298454" y="5098329"/>
            <a:ext cx="3143433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0369A1"/>
                </a:solidFill>
                <a:latin typeface="Outfit SemiBold"/>
              </a:rPr>
              <a:t>Dimensions</a:t>
            </a:r>
          </a:p>
        </p:txBody>
      </p:sp>
      <p:sp>
        <p:nvSpPr>
          <p:cNvPr id="25" name="Block"/>
          <p:cNvSpPr txBox="1"/>
          <p:nvPr/>
        </p:nvSpPr>
        <p:spPr>
          <a:xfrm>
            <a:off x="8298454" y="5317785"/>
            <a:ext cx="3143433" cy="4246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75569"/>
                </a:solidFill>
                <a:latin typeface="Inter"/>
              </a:rPr>
              <a:t>Time · flight · aircraft · gate · runway · user · department · role · passenger · logistics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27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18 / 22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583479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58347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Build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241847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System implementation and full-stack integration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Technology Stack &amp; Integration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Three tiers, one request path: browser to REST API to PostgreSQL, every console on live data</a:t>
            </a:r>
          </a:p>
        </p:txBody>
      </p:sp>
      <p:sp>
        <p:nvSpPr>
          <p:cNvPr id="7" name="Card"/>
          <p:cNvSpPr/>
          <p:nvPr/>
        </p:nvSpPr>
        <p:spPr>
          <a:xfrm>
            <a:off x="548640" y="1874520"/>
            <a:ext cx="3545769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8" name="Icon tile"/>
          <p:cNvSpPr/>
          <p:nvPr/>
        </p:nvSpPr>
        <p:spPr>
          <a:xfrm>
            <a:off x="749808" y="207568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9" name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15" y="2180295"/>
            <a:ext cx="266273" cy="266273"/>
          </a:xfrm>
          <a:prstGeom prst="rect">
            <a:avLst/>
          </a:prstGeom>
        </p:spPr>
      </p:pic>
      <p:sp>
        <p:nvSpPr>
          <p:cNvPr id="10" name="Tier title"/>
          <p:cNvSpPr txBox="1"/>
          <p:nvPr/>
        </p:nvSpPr>
        <p:spPr>
          <a:xfrm>
            <a:off x="1371600" y="2057400"/>
            <a:ext cx="252164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spc="-16">
                <a:solidFill>
                  <a:srgbClr val="0F2942"/>
                </a:solidFill>
                <a:latin typeface="Plus Jakarta Sans"/>
              </a:rPr>
              <a:t>Frontend</a:t>
            </a:r>
          </a:p>
        </p:txBody>
      </p:sp>
      <p:sp>
        <p:nvSpPr>
          <p:cNvPr id="11" name="Tier address"/>
          <p:cNvSpPr txBox="1"/>
          <p:nvPr/>
        </p:nvSpPr>
        <p:spPr>
          <a:xfrm>
            <a:off x="1371600" y="2331720"/>
            <a:ext cx="2521641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JetBrains Mono Medium"/>
              </a:rPr>
              <a:t>Browser · port 3000</a:t>
            </a:r>
          </a:p>
        </p:txBody>
      </p:sp>
      <p:cxnSp>
        <p:nvCxnSpPr>
          <p:cNvPr id="12" name="Divider"/>
          <p:cNvCxnSpPr/>
          <p:nvPr/>
        </p:nvCxnSpPr>
        <p:spPr>
          <a:xfrm>
            <a:off x="749808" y="2770632"/>
            <a:ext cx="3143433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3" name="Tier detail"/>
          <p:cNvSpPr txBox="1"/>
          <p:nvPr/>
        </p:nvSpPr>
        <p:spPr>
          <a:xfrm>
            <a:off x="749808" y="2898648"/>
            <a:ext cx="3143433" cy="1792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React 19 and TypeScript on Vite 8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Material UI 9 and Tailwind CSS 4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Axios client with a JWT interceptor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React Router 7 with role-guarded routes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7 public pages and 9 staff consoles</a:t>
            </a:r>
          </a:p>
        </p:txBody>
      </p:sp>
      <p:sp>
        <p:nvSpPr>
          <p:cNvPr id="14" name="Connector badge"/>
          <p:cNvSpPr/>
          <p:nvPr/>
        </p:nvSpPr>
        <p:spPr>
          <a:xfrm>
            <a:off x="4025829" y="320040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5" name="Connector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125" y="3282696"/>
            <a:ext cx="201168" cy="201168"/>
          </a:xfrm>
          <a:prstGeom prst="rect">
            <a:avLst/>
          </a:prstGeom>
        </p:spPr>
      </p:pic>
      <p:sp>
        <p:nvSpPr>
          <p:cNvPr id="16" name="Card"/>
          <p:cNvSpPr/>
          <p:nvPr/>
        </p:nvSpPr>
        <p:spPr>
          <a:xfrm>
            <a:off x="4323009" y="1874520"/>
            <a:ext cx="3545769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7" name="Icon tile"/>
          <p:cNvSpPr/>
          <p:nvPr/>
        </p:nvSpPr>
        <p:spPr>
          <a:xfrm>
            <a:off x="4524177" y="207568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8" name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784" y="2180295"/>
            <a:ext cx="266273" cy="266273"/>
          </a:xfrm>
          <a:prstGeom prst="rect">
            <a:avLst/>
          </a:prstGeom>
        </p:spPr>
      </p:pic>
      <p:sp>
        <p:nvSpPr>
          <p:cNvPr id="19" name="Tier title"/>
          <p:cNvSpPr txBox="1"/>
          <p:nvPr/>
        </p:nvSpPr>
        <p:spPr>
          <a:xfrm>
            <a:off x="5145969" y="2057400"/>
            <a:ext cx="252164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spc="-16">
                <a:solidFill>
                  <a:srgbClr val="0F2942"/>
                </a:solidFill>
                <a:latin typeface="Plus Jakarta Sans"/>
              </a:rPr>
              <a:t>Backend</a:t>
            </a:r>
          </a:p>
        </p:txBody>
      </p:sp>
      <p:sp>
        <p:nvSpPr>
          <p:cNvPr id="20" name="Tier address"/>
          <p:cNvSpPr txBox="1"/>
          <p:nvPr/>
        </p:nvSpPr>
        <p:spPr>
          <a:xfrm>
            <a:off x="5145969" y="2331720"/>
            <a:ext cx="2521641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JetBrains Mono Medium"/>
              </a:rPr>
              <a:t>REST API · port 8080</a:t>
            </a:r>
          </a:p>
        </p:txBody>
      </p:sp>
      <p:cxnSp>
        <p:nvCxnSpPr>
          <p:cNvPr id="21" name="Divider"/>
          <p:cNvCxnSpPr/>
          <p:nvPr/>
        </p:nvCxnSpPr>
        <p:spPr>
          <a:xfrm>
            <a:off x="4524177" y="2770632"/>
            <a:ext cx="3143433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22" name="Tier detail"/>
          <p:cNvSpPr txBox="1"/>
          <p:nvPr/>
        </p:nvSpPr>
        <p:spPr>
          <a:xfrm>
            <a:off x="4524177" y="2898648"/>
            <a:ext cx="3143433" cy="1792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Java 17 and Spring Boot 3.2.5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Spring Security 6 with stateless JWT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Role checks with @PreAuthorize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Spring Data JPA and Hibernate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22 REST controllers and DTOs</a:t>
            </a:r>
          </a:p>
        </p:txBody>
      </p:sp>
      <p:sp>
        <p:nvSpPr>
          <p:cNvPr id="23" name="Connector badge"/>
          <p:cNvSpPr/>
          <p:nvPr/>
        </p:nvSpPr>
        <p:spPr>
          <a:xfrm>
            <a:off x="7800198" y="320040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4" name="Connector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494" y="3282696"/>
            <a:ext cx="201168" cy="201168"/>
          </a:xfrm>
          <a:prstGeom prst="rect">
            <a:avLst/>
          </a:prstGeom>
        </p:spPr>
      </p:pic>
      <p:sp>
        <p:nvSpPr>
          <p:cNvPr id="25" name="Card"/>
          <p:cNvSpPr/>
          <p:nvPr/>
        </p:nvSpPr>
        <p:spPr>
          <a:xfrm>
            <a:off x="8097286" y="1874520"/>
            <a:ext cx="3545769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6" name="Icon tile"/>
          <p:cNvSpPr/>
          <p:nvPr/>
        </p:nvSpPr>
        <p:spPr>
          <a:xfrm>
            <a:off x="8298454" y="2075688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7" name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062" y="2180295"/>
            <a:ext cx="266273" cy="266273"/>
          </a:xfrm>
          <a:prstGeom prst="rect">
            <a:avLst/>
          </a:prstGeom>
        </p:spPr>
      </p:pic>
      <p:sp>
        <p:nvSpPr>
          <p:cNvPr id="28" name="Tier title"/>
          <p:cNvSpPr txBox="1"/>
          <p:nvPr/>
        </p:nvSpPr>
        <p:spPr>
          <a:xfrm>
            <a:off x="8920246" y="2057400"/>
            <a:ext cx="252164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spc="-16">
                <a:solidFill>
                  <a:srgbClr val="0F2942"/>
                </a:solidFill>
                <a:latin typeface="Plus Jakarta Sans"/>
              </a:rPr>
              <a:t>Data &amp; Infrastructure</a:t>
            </a:r>
          </a:p>
        </p:txBody>
      </p:sp>
      <p:sp>
        <p:nvSpPr>
          <p:cNvPr id="29" name="Tier address"/>
          <p:cNvSpPr txBox="1"/>
          <p:nvPr/>
        </p:nvSpPr>
        <p:spPr>
          <a:xfrm>
            <a:off x="8920246" y="2331720"/>
            <a:ext cx="2521641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64748B"/>
                </a:solidFill>
                <a:latin typeface="JetBrains Mono Medium"/>
              </a:rPr>
              <a:t>PostgreSQL · port 5432</a:t>
            </a:r>
          </a:p>
        </p:txBody>
      </p:sp>
      <p:cxnSp>
        <p:nvCxnSpPr>
          <p:cNvPr id="30" name="Divider"/>
          <p:cNvCxnSpPr/>
          <p:nvPr/>
        </p:nvCxnSpPr>
        <p:spPr>
          <a:xfrm>
            <a:off x="8298454" y="2770632"/>
            <a:ext cx="3143433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31" name="Tier detail"/>
          <p:cNvSpPr txBox="1"/>
          <p:nvPr/>
        </p:nvSpPr>
        <p:spPr>
          <a:xfrm>
            <a:off x="8298454" y="2898648"/>
            <a:ext cx="3143433" cy="17922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PostgreSQL 16 or newer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17 Flyway migrations, V1 to V20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auth_sessions: one active session per user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60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Docker Compose with an Nginx proxy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475569"/>
                </a:solidFill>
                <a:latin typeface="Inter"/>
              </a:rPr>
              <a:t>CI boots the app on Postgres 16</a:t>
            </a:r>
          </a:p>
        </p:txBody>
      </p:sp>
      <p:sp>
        <p:nvSpPr>
          <p:cNvPr id="32" name="Request path card"/>
          <p:cNvSpPr/>
          <p:nvPr/>
        </p:nvSpPr>
        <p:spPr>
          <a:xfrm>
            <a:off x="548640" y="5120640"/>
            <a:ext cx="11094415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33" name="Strip title"/>
          <p:cNvSpPr txBox="1"/>
          <p:nvPr/>
        </p:nvSpPr>
        <p:spPr>
          <a:xfrm>
            <a:off x="749808" y="524865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spc="-10">
                <a:solidFill>
                  <a:srgbClr val="0F2942"/>
                </a:solidFill>
                <a:latin typeface="Plus Jakarta Sans"/>
              </a:rPr>
              <a:t>Request path for one console action</a:t>
            </a:r>
          </a:p>
        </p:txBody>
      </p:sp>
      <p:sp>
        <p:nvSpPr>
          <p:cNvPr id="34" name="Path node"/>
          <p:cNvSpPr/>
          <p:nvPr/>
        </p:nvSpPr>
        <p:spPr>
          <a:xfrm>
            <a:off x="749808" y="5541264"/>
            <a:ext cx="1238646" cy="384048"/>
          </a:xfrm>
          <a:prstGeom prst="roundRect">
            <a:avLst>
              <a:gd name="adj" fmla="val 2857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" name="Path label"/>
          <p:cNvSpPr txBox="1"/>
          <p:nvPr/>
        </p:nvSpPr>
        <p:spPr>
          <a:xfrm>
            <a:off x="749808" y="5541264"/>
            <a:ext cx="123864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-10">
                <a:solidFill>
                  <a:srgbClr val="0F2942"/>
                </a:solidFill>
                <a:latin typeface="Plus Jakarta Sans"/>
              </a:rPr>
              <a:t>React console</a:t>
            </a:r>
          </a:p>
        </p:txBody>
      </p:sp>
      <p:cxnSp>
        <p:nvCxnSpPr>
          <p:cNvPr id="36" name="Path arrow"/>
          <p:cNvCxnSpPr/>
          <p:nvPr/>
        </p:nvCxnSpPr>
        <p:spPr>
          <a:xfrm>
            <a:off x="2034174" y="5733288"/>
            <a:ext cx="170536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</p:cxnSp>
      <p:sp>
        <p:nvSpPr>
          <p:cNvPr id="37" name="Path node"/>
          <p:cNvSpPr/>
          <p:nvPr/>
        </p:nvSpPr>
        <p:spPr>
          <a:xfrm>
            <a:off x="2250430" y="5541264"/>
            <a:ext cx="111255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" name="Path label"/>
          <p:cNvSpPr txBox="1"/>
          <p:nvPr/>
        </p:nvSpPr>
        <p:spPr>
          <a:xfrm>
            <a:off x="2250430" y="5541264"/>
            <a:ext cx="111255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Axios + JWT</a:t>
            </a:r>
          </a:p>
        </p:txBody>
      </p:sp>
      <p:cxnSp>
        <p:nvCxnSpPr>
          <p:cNvPr id="39" name="Path arrow"/>
          <p:cNvCxnSpPr/>
          <p:nvPr/>
        </p:nvCxnSpPr>
        <p:spPr>
          <a:xfrm>
            <a:off x="3408700" y="5733288"/>
            <a:ext cx="170536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</p:cxnSp>
      <p:sp>
        <p:nvSpPr>
          <p:cNvPr id="40" name="Path node"/>
          <p:cNvSpPr/>
          <p:nvPr/>
        </p:nvSpPr>
        <p:spPr>
          <a:xfrm>
            <a:off x="3624956" y="5541264"/>
            <a:ext cx="126489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1" name="Path label"/>
          <p:cNvSpPr txBox="1"/>
          <p:nvPr/>
        </p:nvSpPr>
        <p:spPr>
          <a:xfrm>
            <a:off x="3624956" y="5541264"/>
            <a:ext cx="126489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JwtAuthFilter</a:t>
            </a:r>
          </a:p>
        </p:txBody>
      </p:sp>
      <p:cxnSp>
        <p:nvCxnSpPr>
          <p:cNvPr id="42" name="Path arrow"/>
          <p:cNvCxnSpPr/>
          <p:nvPr/>
        </p:nvCxnSpPr>
        <p:spPr>
          <a:xfrm>
            <a:off x="4935657" y="5733288"/>
            <a:ext cx="170535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</p:cxnSp>
      <p:sp>
        <p:nvSpPr>
          <p:cNvPr id="43" name="Path node"/>
          <p:cNvSpPr/>
          <p:nvPr/>
        </p:nvSpPr>
        <p:spPr>
          <a:xfrm>
            <a:off x="5151912" y="5541264"/>
            <a:ext cx="126489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4" name="Path label"/>
          <p:cNvSpPr txBox="1"/>
          <p:nvPr/>
        </p:nvSpPr>
        <p:spPr>
          <a:xfrm>
            <a:off x="5151912" y="5541264"/>
            <a:ext cx="126489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@PreAuthorize</a:t>
            </a:r>
          </a:p>
        </p:txBody>
      </p:sp>
      <p:cxnSp>
        <p:nvCxnSpPr>
          <p:cNvPr id="45" name="Path arrow"/>
          <p:cNvCxnSpPr/>
          <p:nvPr/>
        </p:nvCxnSpPr>
        <p:spPr>
          <a:xfrm>
            <a:off x="6462522" y="5733288"/>
            <a:ext cx="170536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</p:cxnSp>
      <p:sp>
        <p:nvSpPr>
          <p:cNvPr id="46" name="Path node"/>
          <p:cNvSpPr/>
          <p:nvPr/>
        </p:nvSpPr>
        <p:spPr>
          <a:xfrm>
            <a:off x="6678778" y="5541264"/>
            <a:ext cx="179835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7" name="Path label"/>
          <p:cNvSpPr txBox="1"/>
          <p:nvPr/>
        </p:nvSpPr>
        <p:spPr>
          <a:xfrm>
            <a:off x="6678778" y="5541264"/>
            <a:ext cx="179835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Controller + service</a:t>
            </a:r>
          </a:p>
        </p:txBody>
      </p:sp>
      <p:cxnSp>
        <p:nvCxnSpPr>
          <p:cNvPr id="48" name="Path arrow"/>
          <p:cNvCxnSpPr/>
          <p:nvPr/>
        </p:nvCxnSpPr>
        <p:spPr>
          <a:xfrm>
            <a:off x="8522848" y="5733288"/>
            <a:ext cx="170536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</p:cxnSp>
      <p:sp>
        <p:nvSpPr>
          <p:cNvPr id="49" name="Path node"/>
          <p:cNvSpPr/>
          <p:nvPr/>
        </p:nvSpPr>
        <p:spPr>
          <a:xfrm>
            <a:off x="8739104" y="5541264"/>
            <a:ext cx="134115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0" name="Path label"/>
          <p:cNvSpPr txBox="1"/>
          <p:nvPr/>
        </p:nvSpPr>
        <p:spPr>
          <a:xfrm>
            <a:off x="8739104" y="5541264"/>
            <a:ext cx="134115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1E3A5F"/>
                </a:solidFill>
                <a:latin typeface="JetBrains Mono Medium"/>
              </a:rPr>
              <a:t>JPA repository</a:t>
            </a:r>
          </a:p>
        </p:txBody>
      </p:sp>
      <p:cxnSp>
        <p:nvCxnSpPr>
          <p:cNvPr id="51" name="Path arrow"/>
          <p:cNvCxnSpPr/>
          <p:nvPr/>
        </p:nvCxnSpPr>
        <p:spPr>
          <a:xfrm>
            <a:off x="10125974" y="5733288"/>
            <a:ext cx="170536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</p:cxnSp>
      <p:sp>
        <p:nvSpPr>
          <p:cNvPr id="52" name="Path node"/>
          <p:cNvSpPr/>
          <p:nvPr/>
        </p:nvSpPr>
        <p:spPr>
          <a:xfrm>
            <a:off x="10342230" y="5541264"/>
            <a:ext cx="1099657" cy="384048"/>
          </a:xfrm>
          <a:prstGeom prst="roundRect">
            <a:avLst>
              <a:gd name="adj" fmla="val 2857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3" name="Path label"/>
          <p:cNvSpPr txBox="1"/>
          <p:nvPr/>
        </p:nvSpPr>
        <p:spPr>
          <a:xfrm>
            <a:off x="10342230" y="5541264"/>
            <a:ext cx="109965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-10">
                <a:solidFill>
                  <a:srgbClr val="0F2942"/>
                </a:solidFill>
                <a:latin typeface="Plus Jakarta Sans"/>
              </a:rPr>
              <a:t>PostgreSQL</a:t>
            </a:r>
          </a:p>
        </p:txBody>
      </p:sp>
      <p:sp>
        <p:nvSpPr>
          <p:cNvPr id="54" name="Strip note"/>
          <p:cNvSpPr txBox="1"/>
          <p:nvPr/>
        </p:nvSpPr>
        <p:spPr>
          <a:xfrm>
            <a:off x="749808" y="6016752"/>
            <a:ext cx="1069207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64748B"/>
                </a:solidFill>
                <a:latin typeface="Inter"/>
              </a:rPr>
              <a:t>Locally the Vite dev server proxies /api to port 8080; in Docker, Nginx does the same.</a:t>
            </a:r>
          </a:p>
        </p:txBody>
      </p:sp>
      <p:sp>
        <p:nvSpPr>
          <p:cNvPr id="55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56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19 / 22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715061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71506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Lab 09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73429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Verification and quality assurance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Testing &amp; Quality Assurance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109 automated JUnit 5 and Mockito tests, run in CI on every push</a:t>
            </a:r>
          </a:p>
        </p:txBody>
      </p:sp>
      <p:sp>
        <p:nvSpPr>
          <p:cNvPr id="7" name="Card"/>
          <p:cNvSpPr/>
          <p:nvPr/>
        </p:nvSpPr>
        <p:spPr>
          <a:xfrm>
            <a:off x="548640" y="1874520"/>
            <a:ext cx="3545769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8" name="Icon tile"/>
          <p:cNvSpPr/>
          <p:nvPr/>
        </p:nvSpPr>
        <p:spPr>
          <a:xfrm>
            <a:off x="749808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9" name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22" y="2164202"/>
            <a:ext cx="225308" cy="225308"/>
          </a:xfrm>
          <a:prstGeom prst="rect">
            <a:avLst/>
          </a:prstGeom>
        </p:spPr>
      </p:pic>
      <p:sp>
        <p:nvSpPr>
          <p:cNvPr id="10" name="Card title"/>
          <p:cNvSpPr txBox="1"/>
          <p:nvPr/>
        </p:nvSpPr>
        <p:spPr>
          <a:xfrm>
            <a:off x="1280160" y="203911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Equivalence Partitioning</a:t>
            </a:r>
          </a:p>
        </p:txBody>
      </p:sp>
      <p:sp>
        <p:nvSpPr>
          <p:cNvPr id="11" name="Card body"/>
          <p:cNvSpPr txBox="1"/>
          <p:nvPr/>
        </p:nvSpPr>
        <p:spPr>
          <a:xfrm>
            <a:off x="749808" y="2642616"/>
            <a:ext cx="3143433" cy="1110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Valid and invalid flight status transitions: SCHEDULED to BOARDING passes, SCHEDULED to LANDED is rejected.</a:t>
            </a:r>
          </a:p>
        </p:txBody>
      </p:sp>
      <p:sp>
        <p:nvSpPr>
          <p:cNvPr id="12" name="Card"/>
          <p:cNvSpPr/>
          <p:nvPr/>
        </p:nvSpPr>
        <p:spPr>
          <a:xfrm>
            <a:off x="4322917" y="1874520"/>
            <a:ext cx="3545769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3" name="Icon tile"/>
          <p:cNvSpPr/>
          <p:nvPr/>
        </p:nvSpPr>
        <p:spPr>
          <a:xfrm>
            <a:off x="4524085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4" name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599" y="2164202"/>
            <a:ext cx="225308" cy="225308"/>
          </a:xfrm>
          <a:prstGeom prst="rect">
            <a:avLst/>
          </a:prstGeom>
        </p:spPr>
      </p:pic>
      <p:sp>
        <p:nvSpPr>
          <p:cNvPr id="15" name="Card title"/>
          <p:cNvSpPr txBox="1"/>
          <p:nvPr/>
        </p:nvSpPr>
        <p:spPr>
          <a:xfrm>
            <a:off x="5054437" y="203911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Boundary Values</a:t>
            </a:r>
          </a:p>
        </p:txBody>
      </p:sp>
      <p:sp>
        <p:nvSpPr>
          <p:cNvPr id="16" name="Card body"/>
          <p:cNvSpPr txBox="1"/>
          <p:nvPr/>
        </p:nvSpPr>
        <p:spPr>
          <a:xfrm>
            <a:off x="4524085" y="2642616"/>
            <a:ext cx="3143433" cy="1110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Login lockout: one failure below the limit stays open, the failure at the limit locks the account.</a:t>
            </a:r>
          </a:p>
        </p:txBody>
      </p:sp>
      <p:sp>
        <p:nvSpPr>
          <p:cNvPr id="17" name="Card"/>
          <p:cNvSpPr/>
          <p:nvPr/>
        </p:nvSpPr>
        <p:spPr>
          <a:xfrm>
            <a:off x="548640" y="4183380"/>
            <a:ext cx="3545769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18" name="Icon tile"/>
          <p:cNvSpPr/>
          <p:nvPr/>
        </p:nvSpPr>
        <p:spPr>
          <a:xfrm>
            <a:off x="749808" y="438454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9" name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22" y="4473062"/>
            <a:ext cx="225308" cy="225308"/>
          </a:xfrm>
          <a:prstGeom prst="rect">
            <a:avLst/>
          </a:prstGeom>
        </p:spPr>
      </p:pic>
      <p:sp>
        <p:nvSpPr>
          <p:cNvPr id="20" name="Card title"/>
          <p:cNvSpPr txBox="1"/>
          <p:nvPr/>
        </p:nvSpPr>
        <p:spPr>
          <a:xfrm>
            <a:off x="1280160" y="434797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State Transitions</a:t>
            </a:r>
          </a:p>
        </p:txBody>
      </p:sp>
      <p:sp>
        <p:nvSpPr>
          <p:cNvPr id="21" name="Card body"/>
          <p:cNvSpPr txBox="1"/>
          <p:nvPr/>
        </p:nvSpPr>
        <p:spPr>
          <a:xfrm>
            <a:off x="749808" y="4951476"/>
            <a:ext cx="3143433" cy="1110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Turnaround tasks and flights may only move along their state machines; illegal jumps are refused.</a:t>
            </a:r>
          </a:p>
        </p:txBody>
      </p:sp>
      <p:sp>
        <p:nvSpPr>
          <p:cNvPr id="22" name="Card"/>
          <p:cNvSpPr/>
          <p:nvPr/>
        </p:nvSpPr>
        <p:spPr>
          <a:xfrm>
            <a:off x="4322917" y="4183380"/>
            <a:ext cx="3545769" cy="208026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3" name="Icon tile"/>
          <p:cNvSpPr/>
          <p:nvPr/>
        </p:nvSpPr>
        <p:spPr>
          <a:xfrm>
            <a:off x="4524085" y="438454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4" name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99" y="4473062"/>
            <a:ext cx="225308" cy="225308"/>
          </a:xfrm>
          <a:prstGeom prst="rect">
            <a:avLst/>
          </a:prstGeom>
        </p:spPr>
      </p:pic>
      <p:sp>
        <p:nvSpPr>
          <p:cNvPr id="25" name="Card title"/>
          <p:cNvSpPr txBox="1"/>
          <p:nvPr/>
        </p:nvSpPr>
        <p:spPr>
          <a:xfrm>
            <a:off x="5054437" y="434797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0F2942"/>
                </a:solidFill>
                <a:latin typeface="Plus Jakarta Sans"/>
              </a:rPr>
              <a:t>Regression in CI</a:t>
            </a:r>
          </a:p>
        </p:txBody>
      </p:sp>
      <p:sp>
        <p:nvSpPr>
          <p:cNvPr id="26" name="Card body"/>
          <p:cNvSpPr txBox="1"/>
          <p:nvPr/>
        </p:nvSpPr>
        <p:spPr>
          <a:xfrm>
            <a:off x="4524085" y="4951476"/>
            <a:ext cx="3143433" cy="1110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75569"/>
                </a:solidFill>
                <a:latin typeface="Inter"/>
              </a:rPr>
              <a:t>Every push runs the suite, then boots the app on an empty PostgreSQL 16 to prove migrations run.</a:t>
            </a:r>
          </a:p>
        </p:txBody>
      </p:sp>
      <p:sp>
        <p:nvSpPr>
          <p:cNvPr id="27" name="Terminal card"/>
          <p:cNvSpPr/>
          <p:nvPr/>
        </p:nvSpPr>
        <p:spPr>
          <a:xfrm>
            <a:off x="8097286" y="1874520"/>
            <a:ext cx="3545769" cy="4389120"/>
          </a:xfrm>
          <a:prstGeom prst="roundRect">
            <a:avLst>
              <a:gd name="adj" fmla="val 3610"/>
            </a:avLst>
          </a:prstGeom>
          <a:solidFill>
            <a:srgbClr val="0F2942"/>
          </a:solidFill>
          <a:ln>
            <a:noFill/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28" name="Window dot"/>
          <p:cNvSpPr/>
          <p:nvPr/>
        </p:nvSpPr>
        <p:spPr>
          <a:xfrm>
            <a:off x="8280166" y="2057400"/>
            <a:ext cx="82296" cy="82296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" name="Window dot"/>
          <p:cNvSpPr/>
          <p:nvPr/>
        </p:nvSpPr>
        <p:spPr>
          <a:xfrm>
            <a:off x="8426470" y="2057400"/>
            <a:ext cx="82296" cy="822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" name="Window dot"/>
          <p:cNvSpPr/>
          <p:nvPr/>
        </p:nvSpPr>
        <p:spPr>
          <a:xfrm>
            <a:off x="8572774" y="2057400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Terminal title"/>
          <p:cNvSpPr txBox="1"/>
          <p:nvPr/>
        </p:nvSpPr>
        <p:spPr>
          <a:xfrm>
            <a:off x="8700790" y="1984248"/>
            <a:ext cx="2722809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CBD5E1"/>
                </a:solidFill>
                <a:latin typeface="JetBrains Mono Medium"/>
              </a:rPr>
              <a:t>./mvnw test</a:t>
            </a:r>
          </a:p>
        </p:txBody>
      </p:sp>
      <p:sp>
        <p:nvSpPr>
          <p:cNvPr id="32" name="Test classes"/>
          <p:cNvSpPr txBox="1"/>
          <p:nvPr/>
        </p:nvSpPr>
        <p:spPr>
          <a:xfrm>
            <a:off x="8298454" y="2377440"/>
            <a:ext cx="3143433" cy="3063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0B981"/>
                </a:solidFill>
                <a:latin typeface="JetBrains Mono Medium"/>
              </a:rPr>
              <a:t>✓ </a:t>
            </a:r>
            <a:r>
              <a:rPr sz="950" b="0" i="0">
                <a:solidFill>
                  <a:srgbClr val="CBD5E1"/>
                </a:solidFill>
                <a:latin typeface="JetBrains Mono Medium"/>
              </a:rPr>
              <a:t>TurnaroundTaskServiceTest</a:t>
            </a:r>
            <a:r>
              <a:rPr sz="950" b="0" i="0">
                <a:solidFill>
                  <a:srgbClr val="FFFFFF"/>
                </a:solidFill>
                <a:latin typeface="JetBrains Mono Medium"/>
              </a:rPr>
              <a:t>  17</a:t>
            </a:r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0B981"/>
                </a:solidFill>
                <a:latin typeface="JetBrains Mono Medium"/>
              </a:rPr>
              <a:t>✓ </a:t>
            </a:r>
            <a:r>
              <a:rPr sz="950" b="0" i="0">
                <a:solidFill>
                  <a:srgbClr val="CBD5E1"/>
                </a:solidFill>
                <a:latin typeface="JetBrains Mono Medium"/>
              </a:rPr>
              <a:t>UserServiceTest</a:t>
            </a:r>
            <a:r>
              <a:rPr sz="950" b="0" i="0">
                <a:solidFill>
                  <a:srgbClr val="FFFFFF"/>
                </a:solidFill>
                <a:latin typeface="JetBrains Mono Medium"/>
              </a:rPr>
              <a:t>  10</a:t>
            </a:r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0B981"/>
                </a:solidFill>
                <a:latin typeface="JetBrains Mono Medium"/>
              </a:rPr>
              <a:t>✓ </a:t>
            </a:r>
            <a:r>
              <a:rPr sz="950" b="0" i="0">
                <a:solidFill>
                  <a:srgbClr val="CBD5E1"/>
                </a:solidFill>
                <a:latin typeface="JetBrains Mono Medium"/>
              </a:rPr>
              <a:t>GateServiceTest</a:t>
            </a:r>
            <a:r>
              <a:rPr sz="950" b="0" i="0">
                <a:solidFill>
                  <a:srgbClr val="FFFFFF"/>
                </a:solidFill>
                <a:latin typeface="JetBrains Mono Medium"/>
              </a:rPr>
              <a:t>  9</a:t>
            </a:r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0B981"/>
                </a:solidFill>
                <a:latin typeface="JetBrains Mono Medium"/>
              </a:rPr>
              <a:t>✓ </a:t>
            </a:r>
            <a:r>
              <a:rPr sz="950" b="0" i="0">
                <a:solidFill>
                  <a:srgbClr val="CBD5E1"/>
                </a:solidFill>
                <a:latin typeface="JetBrains Mono Medium"/>
              </a:rPr>
              <a:t>LoginAttemptServiceTest</a:t>
            </a:r>
            <a:r>
              <a:rPr sz="950" b="0" i="0">
                <a:solidFill>
                  <a:srgbClr val="FFFFFF"/>
                </a:solidFill>
                <a:latin typeface="JetBrains Mono Medium"/>
              </a:rPr>
              <a:t>  9</a:t>
            </a:r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0B981"/>
                </a:solidFill>
                <a:latin typeface="JetBrains Mono Medium"/>
              </a:rPr>
              <a:t>✓ </a:t>
            </a:r>
            <a:r>
              <a:rPr sz="950" b="0" i="0">
                <a:solidFill>
                  <a:srgbClr val="CBD5E1"/>
                </a:solidFill>
                <a:latin typeface="JetBrains Mono Medium"/>
              </a:rPr>
              <a:t>FlightControllerValidationTest</a:t>
            </a:r>
            <a:r>
              <a:rPr sz="950" b="0" i="0">
                <a:solidFill>
                  <a:srgbClr val="FFFFFF"/>
                </a:solidFill>
                <a:latin typeface="JetBrains Mono Medium"/>
              </a:rPr>
              <a:t>  9</a:t>
            </a:r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0B981"/>
                </a:solidFill>
                <a:latin typeface="JetBrains Mono Medium"/>
              </a:rPr>
              <a:t>✓ </a:t>
            </a:r>
            <a:r>
              <a:rPr sz="950" b="0" i="0">
                <a:solidFill>
                  <a:srgbClr val="CBD5E1"/>
                </a:solidFill>
                <a:latin typeface="JetBrains Mono Medium"/>
              </a:rPr>
              <a:t>FlightServiceTest</a:t>
            </a:r>
            <a:r>
              <a:rPr sz="950" b="0" i="0">
                <a:solidFill>
                  <a:srgbClr val="FFFFFF"/>
                </a:solidFill>
                <a:latin typeface="JetBrains Mono Medium"/>
              </a:rPr>
              <a:t>  14</a:t>
            </a:r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0B981"/>
                </a:solidFill>
                <a:latin typeface="JetBrains Mono Medium"/>
              </a:rPr>
              <a:t>✓ </a:t>
            </a:r>
            <a:r>
              <a:rPr sz="950" b="0" i="0">
                <a:solidFill>
                  <a:srgbClr val="CBD5E1"/>
                </a:solidFill>
                <a:latin typeface="JetBrains Mono Medium"/>
              </a:rPr>
              <a:t>AuthServiceTest</a:t>
            </a:r>
            <a:r>
              <a:rPr sz="950" b="0" i="0">
                <a:solidFill>
                  <a:srgbClr val="FFFFFF"/>
                </a:solidFill>
                <a:latin typeface="JetBrains Mono Medium"/>
              </a:rPr>
              <a:t>  7</a:t>
            </a:r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0B981"/>
                </a:solidFill>
                <a:latin typeface="JetBrains Mono Medium"/>
              </a:rPr>
              <a:t>✓ </a:t>
            </a:r>
            <a:r>
              <a:rPr sz="950" b="0" i="0">
                <a:solidFill>
                  <a:srgbClr val="CBD5E1"/>
                </a:solidFill>
                <a:latin typeface="JetBrains Mono Medium"/>
              </a:rPr>
              <a:t>SecurityAuditServiceTest</a:t>
            </a:r>
            <a:r>
              <a:rPr sz="950" b="0" i="0">
                <a:solidFill>
                  <a:srgbClr val="FFFFFF"/>
                </a:solidFill>
                <a:latin typeface="JetBrains Mono Medium"/>
              </a:rPr>
              <a:t>  6</a:t>
            </a:r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0B981"/>
                </a:solidFill>
                <a:latin typeface="JetBrains Mono Medium"/>
              </a:rPr>
              <a:t>✓ </a:t>
            </a:r>
            <a:r>
              <a:rPr sz="950" b="0" i="0">
                <a:solidFill>
                  <a:srgbClr val="CBD5E1"/>
                </a:solidFill>
                <a:latin typeface="JetBrains Mono Medium"/>
              </a:rPr>
              <a:t>SecurityOpsServiceTest</a:t>
            </a:r>
            <a:r>
              <a:rPr sz="950" b="0" i="0">
                <a:solidFill>
                  <a:srgbClr val="FFFFFF"/>
                </a:solidFill>
                <a:latin typeface="JetBrains Mono Medium"/>
              </a:rPr>
              <a:t>  6</a:t>
            </a:r>
          </a:p>
          <a:p>
            <a:pPr algn="l">
              <a:lnSpc>
                <a:spcPts val="135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 i="0">
                <a:solidFill>
                  <a:srgbClr val="10B981"/>
                </a:solidFill>
                <a:latin typeface="JetBrains Mono Medium"/>
              </a:rPr>
              <a:t>✓ </a:t>
            </a:r>
            <a:r>
              <a:rPr sz="950" b="0" i="0">
                <a:solidFill>
                  <a:srgbClr val="CBD5E1"/>
                </a:solidFill>
                <a:latin typeface="JetBrains Mono Medium"/>
              </a:rPr>
              <a:t>8 more test classes</a:t>
            </a:r>
            <a:r>
              <a:rPr sz="950" b="0" i="0">
                <a:solidFill>
                  <a:srgbClr val="FFFFFF"/>
                </a:solidFill>
                <a:latin typeface="JetBrains Mono Medium"/>
              </a:rPr>
              <a:t>  22</a:t>
            </a:r>
          </a:p>
        </p:txBody>
      </p:sp>
      <p:cxnSp>
        <p:nvCxnSpPr>
          <p:cNvPr id="33" name="Divider"/>
          <p:cNvCxnSpPr/>
          <p:nvPr/>
        </p:nvCxnSpPr>
        <p:spPr>
          <a:xfrm>
            <a:off x="8298454" y="5477256"/>
            <a:ext cx="3143433" cy="0"/>
          </a:xfrm>
          <a:prstGeom prst="line">
            <a:avLst/>
          </a:prstGeom>
          <a:ln w="9525">
            <a:solidFill>
              <a:srgbClr val="475569"/>
            </a:solidFill>
          </a:ln>
        </p:spPr>
      </p:cxnSp>
      <p:sp>
        <p:nvSpPr>
          <p:cNvPr id="34" name="Totals"/>
          <p:cNvSpPr txBox="1"/>
          <p:nvPr/>
        </p:nvSpPr>
        <p:spPr>
          <a:xfrm>
            <a:off x="8298454" y="5550408"/>
            <a:ext cx="3143433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JetBrains Mono Medium"/>
              </a:rPr>
              <a:t>Tests run: 109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10B981"/>
                </a:solidFill>
                <a:latin typeface="JetBrains Mono Medium"/>
              </a:rPr>
              <a:t>Failures: 0  Errors: 0</a:t>
            </a:r>
          </a:p>
        </p:txBody>
      </p:sp>
      <p:sp>
        <p:nvSpPr>
          <p:cNvPr id="35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36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20 / 22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57200"/>
            <a:ext cx="653887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Chip text"/>
          <p:cNvSpPr txBox="1"/>
          <p:nvPr/>
        </p:nvSpPr>
        <p:spPr>
          <a:xfrm>
            <a:off x="548640" y="457200"/>
            <a:ext cx="65388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Demo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1312255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64748B"/>
                </a:solidFill>
                <a:latin typeface="Inter Medium"/>
              </a:rPr>
              <a:t>System demonstration and user interfaces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0F2942"/>
                </a:solidFill>
                <a:latin typeface="Plus Jakarta Sans ExtraBold"/>
              </a:rPr>
              <a:t>Live Consoles &amp; Public Portal</a:t>
            </a:r>
          </a:p>
        </p:txBody>
      </p:sp>
      <p:sp>
        <p:nvSpPr>
          <p:cNvPr id="6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75569"/>
                </a:solidFill>
                <a:latin typeface="Inter"/>
              </a:rPr>
              <a:t>16 pages on live data: seven public pages and nine role consoles behind server-checked sessions</a:t>
            </a:r>
          </a:p>
        </p:txBody>
      </p:sp>
      <p:sp>
        <p:nvSpPr>
          <p:cNvPr id="7" name="Card"/>
          <p:cNvSpPr/>
          <p:nvPr/>
        </p:nvSpPr>
        <p:spPr>
          <a:xfrm>
            <a:off x="548640" y="1874520"/>
            <a:ext cx="3545769" cy="438912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8" name="Group title"/>
          <p:cNvSpPr txBox="1"/>
          <p:nvPr/>
        </p:nvSpPr>
        <p:spPr>
          <a:xfrm>
            <a:off x="749808" y="2075688"/>
            <a:ext cx="31434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spc="-10">
                <a:solidFill>
                  <a:srgbClr val="0F2942"/>
                </a:solidFill>
                <a:latin typeface="Plus Jakarta Sans"/>
              </a:rPr>
              <a:t>Public portal</a:t>
            </a:r>
          </a:p>
        </p:txBody>
      </p:sp>
      <p:sp>
        <p:nvSpPr>
          <p:cNvPr id="9" name="Chip"/>
          <p:cNvSpPr/>
          <p:nvPr/>
        </p:nvSpPr>
        <p:spPr>
          <a:xfrm>
            <a:off x="3560491" y="2066544"/>
            <a:ext cx="332750" cy="237744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Chip text"/>
          <p:cNvSpPr txBox="1"/>
          <p:nvPr/>
        </p:nvSpPr>
        <p:spPr>
          <a:xfrm>
            <a:off x="3560491" y="2066544"/>
            <a:ext cx="33275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7</a:t>
            </a:r>
          </a:p>
        </p:txBody>
      </p:sp>
      <p:sp>
        <p:nvSpPr>
          <p:cNvPr id="11" name="Page name"/>
          <p:cNvSpPr txBox="1"/>
          <p:nvPr/>
        </p:nvSpPr>
        <p:spPr>
          <a:xfrm>
            <a:off x="749808" y="2404872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Home</a:t>
            </a:r>
          </a:p>
        </p:txBody>
      </p:sp>
      <p:sp>
        <p:nvSpPr>
          <p:cNvPr id="12" name="Route"/>
          <p:cNvSpPr txBox="1"/>
          <p:nvPr/>
        </p:nvSpPr>
        <p:spPr>
          <a:xfrm>
            <a:off x="2350008" y="2404872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/</a:t>
            </a:r>
          </a:p>
        </p:txBody>
      </p:sp>
      <p:sp>
        <p:nvSpPr>
          <p:cNvPr id="13" name="Page name"/>
          <p:cNvSpPr txBox="1"/>
          <p:nvPr/>
        </p:nvSpPr>
        <p:spPr>
          <a:xfrm>
            <a:off x="749808" y="2601468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Flight tracker</a:t>
            </a:r>
          </a:p>
        </p:txBody>
      </p:sp>
      <p:sp>
        <p:nvSpPr>
          <p:cNvPr id="14" name="Route"/>
          <p:cNvSpPr txBox="1"/>
          <p:nvPr/>
        </p:nvSpPr>
        <p:spPr>
          <a:xfrm>
            <a:off x="2350008" y="2601468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/tracker</a:t>
            </a:r>
          </a:p>
        </p:txBody>
      </p:sp>
      <p:sp>
        <p:nvSpPr>
          <p:cNvPr id="15" name="Page name"/>
          <p:cNvSpPr txBox="1"/>
          <p:nvPr/>
        </p:nvSpPr>
        <p:spPr>
          <a:xfrm>
            <a:off x="749808" y="2798064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Timetable</a:t>
            </a:r>
          </a:p>
        </p:txBody>
      </p:sp>
      <p:sp>
        <p:nvSpPr>
          <p:cNvPr id="16" name="Route"/>
          <p:cNvSpPr txBox="1"/>
          <p:nvPr/>
        </p:nvSpPr>
        <p:spPr>
          <a:xfrm>
            <a:off x="2350008" y="2798064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/schedule</a:t>
            </a:r>
          </a:p>
        </p:txBody>
      </p:sp>
      <p:sp>
        <p:nvSpPr>
          <p:cNvPr id="17" name="Page name"/>
          <p:cNvSpPr txBox="1"/>
          <p:nvPr/>
        </p:nvSpPr>
        <p:spPr>
          <a:xfrm>
            <a:off x="749808" y="2994660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Passenger services</a:t>
            </a:r>
          </a:p>
        </p:txBody>
      </p:sp>
      <p:sp>
        <p:nvSpPr>
          <p:cNvPr id="18" name="Route"/>
          <p:cNvSpPr txBox="1"/>
          <p:nvPr/>
        </p:nvSpPr>
        <p:spPr>
          <a:xfrm>
            <a:off x="2350008" y="2994660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/passenger-services</a:t>
            </a:r>
          </a:p>
        </p:txBody>
      </p:sp>
      <p:sp>
        <p:nvSpPr>
          <p:cNvPr id="19" name="Page name"/>
          <p:cNvSpPr txBox="1"/>
          <p:nvPr/>
        </p:nvSpPr>
        <p:spPr>
          <a:xfrm>
            <a:off x="749808" y="3191256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Cargo</a:t>
            </a:r>
          </a:p>
        </p:txBody>
      </p:sp>
      <p:sp>
        <p:nvSpPr>
          <p:cNvPr id="20" name="Route"/>
          <p:cNvSpPr txBox="1"/>
          <p:nvPr/>
        </p:nvSpPr>
        <p:spPr>
          <a:xfrm>
            <a:off x="2350008" y="3191256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/cargo</a:t>
            </a:r>
          </a:p>
        </p:txBody>
      </p:sp>
      <p:sp>
        <p:nvSpPr>
          <p:cNvPr id="21" name="Page name"/>
          <p:cNvSpPr txBox="1"/>
          <p:nvPr/>
        </p:nvSpPr>
        <p:spPr>
          <a:xfrm>
            <a:off x="749808" y="3387852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Airport guide</a:t>
            </a:r>
          </a:p>
        </p:txBody>
      </p:sp>
      <p:sp>
        <p:nvSpPr>
          <p:cNvPr id="22" name="Route"/>
          <p:cNvSpPr txBox="1"/>
          <p:nvPr/>
        </p:nvSpPr>
        <p:spPr>
          <a:xfrm>
            <a:off x="2350008" y="3387852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/airport</a:t>
            </a:r>
          </a:p>
        </p:txBody>
      </p:sp>
      <p:sp>
        <p:nvSpPr>
          <p:cNvPr id="23" name="Page name"/>
          <p:cNvSpPr txBox="1"/>
          <p:nvPr/>
        </p:nvSpPr>
        <p:spPr>
          <a:xfrm>
            <a:off x="749808" y="3584448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Support</a:t>
            </a:r>
          </a:p>
        </p:txBody>
      </p:sp>
      <p:sp>
        <p:nvSpPr>
          <p:cNvPr id="24" name="Route"/>
          <p:cNvSpPr txBox="1"/>
          <p:nvPr/>
        </p:nvSpPr>
        <p:spPr>
          <a:xfrm>
            <a:off x="2350008" y="3584448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/contact</a:t>
            </a:r>
          </a:p>
        </p:txBody>
      </p:sp>
      <p:sp>
        <p:nvSpPr>
          <p:cNvPr id="25" name="Group title"/>
          <p:cNvSpPr txBox="1"/>
          <p:nvPr/>
        </p:nvSpPr>
        <p:spPr>
          <a:xfrm>
            <a:off x="749808" y="3927348"/>
            <a:ext cx="31434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spc="-10">
                <a:solidFill>
                  <a:srgbClr val="0F2942"/>
                </a:solidFill>
                <a:latin typeface="Plus Jakarta Sans"/>
              </a:rPr>
              <a:t>Staff consoles</a:t>
            </a:r>
          </a:p>
        </p:txBody>
      </p:sp>
      <p:sp>
        <p:nvSpPr>
          <p:cNvPr id="26" name="Route prefix"/>
          <p:cNvSpPr txBox="1"/>
          <p:nvPr/>
        </p:nvSpPr>
        <p:spPr>
          <a:xfrm>
            <a:off x="2061058" y="392734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94A3B8"/>
                </a:solidFill>
                <a:latin typeface="JetBrains Mono Medium"/>
              </a:rPr>
              <a:t>under /dashboard/</a:t>
            </a:r>
          </a:p>
        </p:txBody>
      </p:sp>
      <p:sp>
        <p:nvSpPr>
          <p:cNvPr id="27" name="Chip"/>
          <p:cNvSpPr/>
          <p:nvPr/>
        </p:nvSpPr>
        <p:spPr>
          <a:xfrm>
            <a:off x="3554273" y="3918204"/>
            <a:ext cx="338968" cy="237744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8" name="Chip text"/>
          <p:cNvSpPr txBox="1"/>
          <p:nvPr/>
        </p:nvSpPr>
        <p:spPr>
          <a:xfrm>
            <a:off x="3554273" y="3918204"/>
            <a:ext cx="3389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0369A1"/>
                </a:solidFill>
                <a:latin typeface="Outfit SemiBold"/>
              </a:rPr>
              <a:t>9</a:t>
            </a:r>
          </a:p>
        </p:txBody>
      </p:sp>
      <p:sp>
        <p:nvSpPr>
          <p:cNvPr id="29" name="Page name"/>
          <p:cNvSpPr txBox="1"/>
          <p:nvPr/>
        </p:nvSpPr>
        <p:spPr>
          <a:xfrm>
            <a:off x="749808" y="4256532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Check-in desk</a:t>
            </a:r>
          </a:p>
        </p:txBody>
      </p:sp>
      <p:sp>
        <p:nvSpPr>
          <p:cNvPr id="30" name="Route"/>
          <p:cNvSpPr txBox="1"/>
          <p:nvPr/>
        </p:nvSpPr>
        <p:spPr>
          <a:xfrm>
            <a:off x="2350008" y="4256532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check-in</a:t>
            </a:r>
          </a:p>
        </p:txBody>
      </p:sp>
      <p:sp>
        <p:nvSpPr>
          <p:cNvPr id="31" name="Page name"/>
          <p:cNvSpPr txBox="1"/>
          <p:nvPr/>
        </p:nvSpPr>
        <p:spPr>
          <a:xfrm>
            <a:off x="749808" y="4453128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AOCC controller</a:t>
            </a:r>
          </a:p>
        </p:txBody>
      </p:sp>
      <p:sp>
        <p:nvSpPr>
          <p:cNvPr id="32" name="Route"/>
          <p:cNvSpPr txBox="1"/>
          <p:nvPr/>
        </p:nvSpPr>
        <p:spPr>
          <a:xfrm>
            <a:off x="2350008" y="4453128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aocc</a:t>
            </a:r>
          </a:p>
        </p:txBody>
      </p:sp>
      <p:sp>
        <p:nvSpPr>
          <p:cNvPr id="33" name="Page name"/>
          <p:cNvSpPr txBox="1"/>
          <p:nvPr/>
        </p:nvSpPr>
        <p:spPr>
          <a:xfrm>
            <a:off x="749808" y="4649724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Ground operations</a:t>
            </a:r>
          </a:p>
        </p:txBody>
      </p:sp>
      <p:sp>
        <p:nvSpPr>
          <p:cNvPr id="34" name="Route"/>
          <p:cNvSpPr txBox="1"/>
          <p:nvPr/>
        </p:nvSpPr>
        <p:spPr>
          <a:xfrm>
            <a:off x="2350008" y="4649724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ground-ops</a:t>
            </a:r>
          </a:p>
        </p:txBody>
      </p:sp>
      <p:sp>
        <p:nvSpPr>
          <p:cNvPr id="35" name="Page name"/>
          <p:cNvSpPr txBox="1"/>
          <p:nvPr/>
        </p:nvSpPr>
        <p:spPr>
          <a:xfrm>
            <a:off x="749808" y="4846320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Airside operations</a:t>
            </a:r>
          </a:p>
        </p:txBody>
      </p:sp>
      <p:sp>
        <p:nvSpPr>
          <p:cNvPr id="36" name="Route"/>
          <p:cNvSpPr txBox="1"/>
          <p:nvPr/>
        </p:nvSpPr>
        <p:spPr>
          <a:xfrm>
            <a:off x="2350008" y="4846320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airside-ops</a:t>
            </a:r>
          </a:p>
        </p:txBody>
      </p:sp>
      <p:sp>
        <p:nvSpPr>
          <p:cNvPr id="37" name="Page name"/>
          <p:cNvSpPr txBox="1"/>
          <p:nvPr/>
        </p:nvSpPr>
        <p:spPr>
          <a:xfrm>
            <a:off x="749808" y="5042916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Logistics &amp; BHS</a:t>
            </a:r>
          </a:p>
        </p:txBody>
      </p:sp>
      <p:sp>
        <p:nvSpPr>
          <p:cNvPr id="38" name="Route"/>
          <p:cNvSpPr txBox="1"/>
          <p:nvPr/>
        </p:nvSpPr>
        <p:spPr>
          <a:xfrm>
            <a:off x="2350008" y="5042916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logistics</a:t>
            </a:r>
          </a:p>
        </p:txBody>
      </p:sp>
      <p:sp>
        <p:nvSpPr>
          <p:cNvPr id="39" name="Page name"/>
          <p:cNvSpPr txBox="1"/>
          <p:nvPr/>
        </p:nvSpPr>
        <p:spPr>
          <a:xfrm>
            <a:off x="749808" y="5239512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Passenger security</a:t>
            </a:r>
          </a:p>
        </p:txBody>
      </p:sp>
      <p:sp>
        <p:nvSpPr>
          <p:cNvPr id="40" name="Route"/>
          <p:cNvSpPr txBox="1"/>
          <p:nvPr/>
        </p:nvSpPr>
        <p:spPr>
          <a:xfrm>
            <a:off x="2350008" y="5239512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passenger-security</a:t>
            </a:r>
          </a:p>
        </p:txBody>
      </p:sp>
      <p:sp>
        <p:nvSpPr>
          <p:cNvPr id="41" name="Page name"/>
          <p:cNvSpPr txBox="1"/>
          <p:nvPr/>
        </p:nvSpPr>
        <p:spPr>
          <a:xfrm>
            <a:off x="749808" y="5436108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Airline billing</a:t>
            </a:r>
          </a:p>
        </p:txBody>
      </p:sp>
      <p:sp>
        <p:nvSpPr>
          <p:cNvPr id="42" name="Route"/>
          <p:cNvSpPr txBox="1"/>
          <p:nvPr/>
        </p:nvSpPr>
        <p:spPr>
          <a:xfrm>
            <a:off x="2350008" y="5436108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billing</a:t>
            </a:r>
          </a:p>
        </p:txBody>
      </p:sp>
      <p:sp>
        <p:nvSpPr>
          <p:cNvPr id="43" name="Page name"/>
          <p:cNvSpPr txBox="1"/>
          <p:nvPr/>
        </p:nvSpPr>
        <p:spPr>
          <a:xfrm>
            <a:off x="749808" y="5632704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System admin</a:t>
            </a:r>
          </a:p>
        </p:txBody>
      </p:sp>
      <p:sp>
        <p:nvSpPr>
          <p:cNvPr id="44" name="Route"/>
          <p:cNvSpPr txBox="1"/>
          <p:nvPr/>
        </p:nvSpPr>
        <p:spPr>
          <a:xfrm>
            <a:off x="2350008" y="5632704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system-admin</a:t>
            </a:r>
          </a:p>
        </p:txBody>
      </p:sp>
      <p:sp>
        <p:nvSpPr>
          <p:cNvPr id="45" name="Page name"/>
          <p:cNvSpPr txBox="1"/>
          <p:nvPr/>
        </p:nvSpPr>
        <p:spPr>
          <a:xfrm>
            <a:off x="749808" y="5829300"/>
            <a:ext cx="1600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475569"/>
                </a:solidFill>
                <a:latin typeface="Inter"/>
              </a:rPr>
              <a:t>Department services</a:t>
            </a:r>
          </a:p>
        </p:txBody>
      </p:sp>
      <p:sp>
        <p:nvSpPr>
          <p:cNvPr id="46" name="Route"/>
          <p:cNvSpPr txBox="1"/>
          <p:nvPr/>
        </p:nvSpPr>
        <p:spPr>
          <a:xfrm>
            <a:off x="2350008" y="5829300"/>
            <a:ext cx="154323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department</a:t>
            </a:r>
          </a:p>
        </p:txBody>
      </p:sp>
      <p:sp>
        <p:nvSpPr>
          <p:cNvPr id="47" name="Browser frame"/>
          <p:cNvSpPr/>
          <p:nvPr/>
        </p:nvSpPr>
        <p:spPr>
          <a:xfrm>
            <a:off x="4323009" y="1874520"/>
            <a:ext cx="3545769" cy="2080260"/>
          </a:xfrm>
          <a:prstGeom prst="roundRect">
            <a:avLst>
              <a:gd name="adj" fmla="val 5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48" name="Browser bar"/>
          <p:cNvSpPr/>
          <p:nvPr/>
        </p:nvSpPr>
        <p:spPr>
          <a:xfrm>
            <a:off x="4328495" y="1880006"/>
            <a:ext cx="3534796" cy="237744"/>
          </a:xfrm>
          <a:prstGeom prst="roundRect">
            <a:avLst>
              <a:gd name="adj" fmla="val 3846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9" name="Browser bar base"/>
          <p:cNvSpPr/>
          <p:nvPr/>
        </p:nvSpPr>
        <p:spPr>
          <a:xfrm>
            <a:off x="4328495" y="2020824"/>
            <a:ext cx="3534796" cy="9692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0" name="Window dot"/>
          <p:cNvSpPr/>
          <p:nvPr/>
        </p:nvSpPr>
        <p:spPr>
          <a:xfrm>
            <a:off x="4451025" y="1961388"/>
            <a:ext cx="64008" cy="6400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1" name="Window dot"/>
          <p:cNvSpPr/>
          <p:nvPr/>
        </p:nvSpPr>
        <p:spPr>
          <a:xfrm>
            <a:off x="4569897" y="1961388"/>
            <a:ext cx="64008" cy="6400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2" name="Window dot"/>
          <p:cNvSpPr/>
          <p:nvPr/>
        </p:nvSpPr>
        <p:spPr>
          <a:xfrm>
            <a:off x="4688769" y="1961388"/>
            <a:ext cx="64008" cy="6400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3" name="URL pill"/>
          <p:cNvSpPr/>
          <p:nvPr/>
        </p:nvSpPr>
        <p:spPr>
          <a:xfrm>
            <a:off x="4835073" y="1920240"/>
            <a:ext cx="226314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4" name="URL"/>
          <p:cNvSpPr txBox="1"/>
          <p:nvPr/>
        </p:nvSpPr>
        <p:spPr>
          <a:xfrm>
            <a:off x="4835073" y="1920240"/>
            <a:ext cx="226314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localhost:3000/dashboard/aocc</a:t>
            </a:r>
          </a:p>
        </p:txBody>
      </p:sp>
      <p:pic>
        <p:nvPicPr>
          <p:cNvPr id="55" name="Screenshot" descr="AOCC flight operations console"/>
          <p:cNvPicPr>
            <a:picLocks noChangeAspect="1"/>
          </p:cNvPicPr>
          <p:nvPr/>
        </p:nvPicPr>
        <p:blipFill>
          <a:blip r:embed="rId2"/>
          <a:srcRect b="17196"/>
          <a:stretch>
            <a:fillRect/>
          </a:stretch>
        </p:blipFill>
        <p:spPr>
          <a:xfrm>
            <a:off x="4368729" y="2121408"/>
            <a:ext cx="3454237" cy="1787652"/>
          </a:xfrm>
          <a:prstGeom prst="rect">
            <a:avLst/>
          </a:prstGeom>
        </p:spPr>
      </p:pic>
      <p:sp>
        <p:nvSpPr>
          <p:cNvPr id="56" name="Browser frame"/>
          <p:cNvSpPr/>
          <p:nvPr/>
        </p:nvSpPr>
        <p:spPr>
          <a:xfrm>
            <a:off x="8097286" y="1874520"/>
            <a:ext cx="3545769" cy="2080260"/>
          </a:xfrm>
          <a:prstGeom prst="roundRect">
            <a:avLst>
              <a:gd name="adj" fmla="val 5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57" name="Browser bar"/>
          <p:cNvSpPr/>
          <p:nvPr/>
        </p:nvSpPr>
        <p:spPr>
          <a:xfrm>
            <a:off x="8102773" y="1880006"/>
            <a:ext cx="3534796" cy="237744"/>
          </a:xfrm>
          <a:prstGeom prst="roundRect">
            <a:avLst>
              <a:gd name="adj" fmla="val 3846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8" name="Browser bar base"/>
          <p:cNvSpPr/>
          <p:nvPr/>
        </p:nvSpPr>
        <p:spPr>
          <a:xfrm>
            <a:off x="8102773" y="2020824"/>
            <a:ext cx="3534796" cy="9692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9" name="Window dot"/>
          <p:cNvSpPr/>
          <p:nvPr/>
        </p:nvSpPr>
        <p:spPr>
          <a:xfrm>
            <a:off x="8225394" y="1961388"/>
            <a:ext cx="64008" cy="6400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0" name="Window dot"/>
          <p:cNvSpPr/>
          <p:nvPr/>
        </p:nvSpPr>
        <p:spPr>
          <a:xfrm>
            <a:off x="8344266" y="1961388"/>
            <a:ext cx="64008" cy="6400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1" name="Window dot"/>
          <p:cNvSpPr/>
          <p:nvPr/>
        </p:nvSpPr>
        <p:spPr>
          <a:xfrm>
            <a:off x="8463046" y="1961388"/>
            <a:ext cx="64008" cy="6400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2" name="URL pill"/>
          <p:cNvSpPr/>
          <p:nvPr/>
        </p:nvSpPr>
        <p:spPr>
          <a:xfrm>
            <a:off x="8609442" y="1920240"/>
            <a:ext cx="253746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3" name="URL"/>
          <p:cNvSpPr txBox="1"/>
          <p:nvPr/>
        </p:nvSpPr>
        <p:spPr>
          <a:xfrm>
            <a:off x="8609442" y="1920240"/>
            <a:ext cx="253746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localhost:3000/dashboard/check-in</a:t>
            </a:r>
          </a:p>
        </p:txBody>
      </p:sp>
      <p:pic>
        <p:nvPicPr>
          <p:cNvPr id="64" name="Screenshot" descr="Check-in desk console"/>
          <p:cNvPicPr>
            <a:picLocks noChangeAspect="1"/>
          </p:cNvPicPr>
          <p:nvPr/>
        </p:nvPicPr>
        <p:blipFill>
          <a:blip r:embed="rId3"/>
          <a:srcRect b="17196"/>
          <a:stretch>
            <a:fillRect/>
          </a:stretch>
        </p:blipFill>
        <p:spPr>
          <a:xfrm>
            <a:off x="8143098" y="2121408"/>
            <a:ext cx="3454237" cy="1787652"/>
          </a:xfrm>
          <a:prstGeom prst="rect">
            <a:avLst/>
          </a:prstGeom>
        </p:spPr>
      </p:pic>
      <p:sp>
        <p:nvSpPr>
          <p:cNvPr id="65" name="Browser frame"/>
          <p:cNvSpPr/>
          <p:nvPr/>
        </p:nvSpPr>
        <p:spPr>
          <a:xfrm>
            <a:off x="4323009" y="4183380"/>
            <a:ext cx="3545769" cy="2080260"/>
          </a:xfrm>
          <a:prstGeom prst="roundRect">
            <a:avLst>
              <a:gd name="adj" fmla="val 5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66" name="Browser bar"/>
          <p:cNvSpPr/>
          <p:nvPr/>
        </p:nvSpPr>
        <p:spPr>
          <a:xfrm>
            <a:off x="4328495" y="4188866"/>
            <a:ext cx="3534796" cy="237744"/>
          </a:xfrm>
          <a:prstGeom prst="roundRect">
            <a:avLst>
              <a:gd name="adj" fmla="val 3846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7" name="Browser bar base"/>
          <p:cNvSpPr/>
          <p:nvPr/>
        </p:nvSpPr>
        <p:spPr>
          <a:xfrm>
            <a:off x="4328495" y="4329684"/>
            <a:ext cx="3534796" cy="9692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8" name="Window dot"/>
          <p:cNvSpPr/>
          <p:nvPr/>
        </p:nvSpPr>
        <p:spPr>
          <a:xfrm>
            <a:off x="4451025" y="4270248"/>
            <a:ext cx="64008" cy="6400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9" name="Window dot"/>
          <p:cNvSpPr/>
          <p:nvPr/>
        </p:nvSpPr>
        <p:spPr>
          <a:xfrm>
            <a:off x="4569897" y="4270248"/>
            <a:ext cx="64008" cy="6400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0" name="Window dot"/>
          <p:cNvSpPr/>
          <p:nvPr/>
        </p:nvSpPr>
        <p:spPr>
          <a:xfrm>
            <a:off x="4688769" y="4270248"/>
            <a:ext cx="64008" cy="6400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1" name="URL pill"/>
          <p:cNvSpPr/>
          <p:nvPr/>
        </p:nvSpPr>
        <p:spPr>
          <a:xfrm>
            <a:off x="4835073" y="4229100"/>
            <a:ext cx="2722809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2" name="URL"/>
          <p:cNvSpPr txBox="1"/>
          <p:nvPr/>
        </p:nvSpPr>
        <p:spPr>
          <a:xfrm>
            <a:off x="4835073" y="4229100"/>
            <a:ext cx="2722809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localhost:3000/dashboard/airside-ops</a:t>
            </a:r>
          </a:p>
        </p:txBody>
      </p:sp>
      <p:pic>
        <p:nvPicPr>
          <p:cNvPr id="73" name="Screenshot" descr="Airside console showing wingspan conflicts"/>
          <p:cNvPicPr>
            <a:picLocks noChangeAspect="1"/>
          </p:cNvPicPr>
          <p:nvPr/>
        </p:nvPicPr>
        <p:blipFill>
          <a:blip r:embed="rId4"/>
          <a:srcRect b="17196"/>
          <a:stretch>
            <a:fillRect/>
          </a:stretch>
        </p:blipFill>
        <p:spPr>
          <a:xfrm>
            <a:off x="4368729" y="4430268"/>
            <a:ext cx="3454237" cy="1787652"/>
          </a:xfrm>
          <a:prstGeom prst="rect">
            <a:avLst/>
          </a:prstGeom>
        </p:spPr>
      </p:pic>
      <p:sp>
        <p:nvSpPr>
          <p:cNvPr id="74" name="Browser frame"/>
          <p:cNvSpPr/>
          <p:nvPr/>
        </p:nvSpPr>
        <p:spPr>
          <a:xfrm>
            <a:off x="8097286" y="4183380"/>
            <a:ext cx="3545769" cy="2080260"/>
          </a:xfrm>
          <a:prstGeom prst="roundRect">
            <a:avLst>
              <a:gd name="adj" fmla="val 5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201168" dist="54864" dir="5400000" algn="t" rotWithShape="0">
              <a:srgbClr val="1E3A5F">
                <a:alpha val="8000"/>
              </a:srgbClr>
            </a:outerShdw>
          </a:effectLst>
        </p:spPr>
        <p:txBody>
          <a:bodyPr rtlCol="0" anchor="ctr"/>
          <a:lstStyle/>
          <a:p>
            <a:endParaRPr/>
          </a:p>
        </p:txBody>
      </p:sp>
      <p:sp>
        <p:nvSpPr>
          <p:cNvPr id="75" name="Browser bar"/>
          <p:cNvSpPr/>
          <p:nvPr/>
        </p:nvSpPr>
        <p:spPr>
          <a:xfrm>
            <a:off x="8102773" y="4188866"/>
            <a:ext cx="3534796" cy="237744"/>
          </a:xfrm>
          <a:prstGeom prst="roundRect">
            <a:avLst>
              <a:gd name="adj" fmla="val 38461"/>
            </a:avLst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6" name="Browser bar base"/>
          <p:cNvSpPr/>
          <p:nvPr/>
        </p:nvSpPr>
        <p:spPr>
          <a:xfrm>
            <a:off x="8102773" y="4329684"/>
            <a:ext cx="3534796" cy="9692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7" name="Window dot"/>
          <p:cNvSpPr/>
          <p:nvPr/>
        </p:nvSpPr>
        <p:spPr>
          <a:xfrm>
            <a:off x="8225394" y="4270248"/>
            <a:ext cx="64008" cy="6400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8" name="Window dot"/>
          <p:cNvSpPr/>
          <p:nvPr/>
        </p:nvSpPr>
        <p:spPr>
          <a:xfrm>
            <a:off x="8344266" y="4270248"/>
            <a:ext cx="64008" cy="6400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9" name="Window dot"/>
          <p:cNvSpPr/>
          <p:nvPr/>
        </p:nvSpPr>
        <p:spPr>
          <a:xfrm>
            <a:off x="8463046" y="4270248"/>
            <a:ext cx="64008" cy="64008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0" name="URL pill"/>
          <p:cNvSpPr/>
          <p:nvPr/>
        </p:nvSpPr>
        <p:spPr>
          <a:xfrm>
            <a:off x="8609442" y="4229100"/>
            <a:ext cx="1783080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1" name="URL"/>
          <p:cNvSpPr txBox="1"/>
          <p:nvPr/>
        </p:nvSpPr>
        <p:spPr>
          <a:xfrm>
            <a:off x="8609442" y="4229100"/>
            <a:ext cx="178308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JetBrains Mono Medium"/>
              </a:rPr>
              <a:t>localhost:3000/tracker</a:t>
            </a:r>
          </a:p>
        </p:txBody>
      </p:sp>
      <p:pic>
        <p:nvPicPr>
          <p:cNvPr id="82" name="Screenshot" descr="Public flight tracker"/>
          <p:cNvPicPr>
            <a:picLocks noChangeAspect="1"/>
          </p:cNvPicPr>
          <p:nvPr/>
        </p:nvPicPr>
        <p:blipFill>
          <a:blip r:embed="rId5"/>
          <a:srcRect b="17196"/>
          <a:stretch>
            <a:fillRect/>
          </a:stretch>
        </p:blipFill>
        <p:spPr>
          <a:xfrm>
            <a:off x="8143098" y="4430268"/>
            <a:ext cx="3454237" cy="1787652"/>
          </a:xfrm>
          <a:prstGeom prst="rect">
            <a:avLst/>
          </a:prstGeom>
        </p:spPr>
      </p:pic>
      <p:sp>
        <p:nvSpPr>
          <p:cNvPr id="83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94A3B8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84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94A3B8"/>
                </a:solidFill>
                <a:latin typeface="Outfit SemiBold"/>
              </a:rPr>
              <a:t>21 / 22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photo"/>
          <p:cNvPicPr>
            <a:picLocks noChangeAspect="1"/>
          </p:cNvPicPr>
          <p:nvPr/>
        </p:nvPicPr>
        <p:blipFill>
          <a:blip r:embed="rId2"/>
          <a:srcRect t="7642" b="764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Navy overla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>
              <a:alpha val="9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" name="Chip"/>
          <p:cNvSpPr/>
          <p:nvPr/>
        </p:nvSpPr>
        <p:spPr>
          <a:xfrm>
            <a:off x="548640" y="457200"/>
            <a:ext cx="892363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2000"/>
              </a:srgbClr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" name="Chip text"/>
          <p:cNvSpPr txBox="1"/>
          <p:nvPr/>
        </p:nvSpPr>
        <p:spPr>
          <a:xfrm>
            <a:off x="548640" y="457200"/>
            <a:ext cx="892363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E0F2FE"/>
                </a:solidFill>
                <a:latin typeface="Outfit SemiBold"/>
              </a:rPr>
              <a:t>Summary</a:t>
            </a:r>
          </a:p>
        </p:txBody>
      </p:sp>
      <p:sp>
        <p:nvSpPr>
          <p:cNvPr id="6" name="Kicker"/>
          <p:cNvSpPr txBox="1"/>
          <p:nvPr/>
        </p:nvSpPr>
        <p:spPr>
          <a:xfrm>
            <a:off x="1550731" y="457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CBD5E1"/>
                </a:solidFill>
                <a:latin typeface="Inter Medium"/>
              </a:rPr>
              <a:t>Project summary and future outlook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548640" y="841248"/>
            <a:ext cx="1109441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spc="-68">
                <a:solidFill>
                  <a:srgbClr val="FFFFFF"/>
                </a:solidFill>
                <a:latin typeface="Plus Jakarta Sans ExtraBold"/>
              </a:rPr>
              <a:t>Conclusion &amp; Future Roadmap</a:t>
            </a:r>
          </a:p>
        </p:txBody>
      </p:sp>
      <p:sp>
        <p:nvSpPr>
          <p:cNvPr id="8" name="Lede"/>
          <p:cNvSpPr txBox="1"/>
          <p:nvPr/>
        </p:nvSpPr>
        <p:spPr>
          <a:xfrm>
            <a:off x="548640" y="13898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CBD5E1"/>
                </a:solidFill>
                <a:latin typeface="Inter"/>
              </a:rPr>
              <a:t>What was built, what is distinctive, and where the platform goes next</a:t>
            </a:r>
          </a:p>
        </p:txBody>
      </p:sp>
      <p:sp>
        <p:nvSpPr>
          <p:cNvPr id="9" name="Card"/>
          <p:cNvSpPr/>
          <p:nvPr/>
        </p:nvSpPr>
        <p:spPr>
          <a:xfrm>
            <a:off x="548640" y="1874520"/>
            <a:ext cx="3545769" cy="3566160"/>
          </a:xfrm>
          <a:prstGeom prst="roundRect">
            <a:avLst>
              <a:gd name="adj" fmla="val 361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Icon tile"/>
          <p:cNvSpPr/>
          <p:nvPr/>
        </p:nvSpPr>
        <p:spPr>
          <a:xfrm>
            <a:off x="749808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1" name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22" y="2164202"/>
            <a:ext cx="225308" cy="225308"/>
          </a:xfrm>
          <a:prstGeom prst="rect">
            <a:avLst/>
          </a:prstGeom>
        </p:spPr>
      </p:pic>
      <p:sp>
        <p:nvSpPr>
          <p:cNvPr id="12" name="Card title"/>
          <p:cNvSpPr txBox="1"/>
          <p:nvPr/>
        </p:nvSpPr>
        <p:spPr>
          <a:xfrm>
            <a:off x="1280160" y="203911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FFFFFF"/>
                </a:solidFill>
                <a:latin typeface="Plus Jakarta Sans"/>
              </a:rPr>
              <a:t>Engineering Summary</a:t>
            </a:r>
          </a:p>
        </p:txBody>
      </p:sp>
      <p:sp>
        <p:nvSpPr>
          <p:cNvPr id="13" name="Card bullets"/>
          <p:cNvSpPr txBox="1"/>
          <p:nvPr/>
        </p:nvSpPr>
        <p:spPr>
          <a:xfrm>
            <a:off x="749808" y="2679192"/>
            <a:ext cx="3143433" cy="2560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800"/>
              </a:spcAft>
              <a:buClr>
                <a:srgbClr val="38BDF8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CBD5E1"/>
                </a:solidFill>
                <a:latin typeface="Inter"/>
              </a:rPr>
              <a:t>Full-stack airport operations platform across nine lab experiments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800"/>
              </a:spcAft>
              <a:buClr>
                <a:srgbClr val="38BDF8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CBD5E1"/>
                </a:solidFill>
                <a:latin typeface="Inter"/>
              </a:rPr>
              <a:t>43 tables, about 158,000 seed records, 109 automated tests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CBD5E1"/>
                </a:solidFill>
                <a:latin typeface="Inter"/>
              </a:rPr>
              <a:t>16 pages wired to a live PostgreSQL database</a:t>
            </a:r>
          </a:p>
        </p:txBody>
      </p:sp>
      <p:sp>
        <p:nvSpPr>
          <p:cNvPr id="14" name="Card"/>
          <p:cNvSpPr/>
          <p:nvPr/>
        </p:nvSpPr>
        <p:spPr>
          <a:xfrm>
            <a:off x="4323009" y="1874520"/>
            <a:ext cx="3545769" cy="3566160"/>
          </a:xfrm>
          <a:prstGeom prst="roundRect">
            <a:avLst>
              <a:gd name="adj" fmla="val 361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5" name="Icon tile"/>
          <p:cNvSpPr/>
          <p:nvPr/>
        </p:nvSpPr>
        <p:spPr>
          <a:xfrm>
            <a:off x="4524177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16" name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691" y="2164202"/>
            <a:ext cx="225308" cy="225308"/>
          </a:xfrm>
          <a:prstGeom prst="rect">
            <a:avLst/>
          </a:prstGeom>
        </p:spPr>
      </p:pic>
      <p:sp>
        <p:nvSpPr>
          <p:cNvPr id="17" name="Card title"/>
          <p:cNvSpPr txBox="1"/>
          <p:nvPr/>
        </p:nvSpPr>
        <p:spPr>
          <a:xfrm>
            <a:off x="5054529" y="203911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FFFFFF"/>
                </a:solidFill>
                <a:latin typeface="Plus Jakarta Sans"/>
              </a:rPr>
              <a:t>Key Innovations</a:t>
            </a:r>
          </a:p>
        </p:txBody>
      </p:sp>
      <p:sp>
        <p:nvSpPr>
          <p:cNvPr id="18" name="Card bullets"/>
          <p:cNvSpPr txBox="1"/>
          <p:nvPr/>
        </p:nvSpPr>
        <p:spPr>
          <a:xfrm>
            <a:off x="4524177" y="2679192"/>
            <a:ext cx="3143433" cy="2560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800"/>
              </a:spcAft>
              <a:buClr>
                <a:srgbClr val="38BDF8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CBD5E1"/>
                </a:solidFill>
                <a:latin typeface="Inter"/>
              </a:rPr>
              <a:t>Wingspan vs gate conflict detection (HTTP 409)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800"/>
              </a:spcAft>
              <a:buClr>
                <a:srgbClr val="38BDF8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CBD5E1"/>
                </a:solidFill>
                <a:latin typeface="Inter"/>
              </a:rPr>
              <a:t>Server-side session revocation through auth_sessions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800"/>
              </a:spcAft>
              <a:buClr>
                <a:srgbClr val="38BDF8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CBD5E1"/>
                </a:solidFill>
                <a:latin typeface="Inter"/>
              </a:rPr>
              <a:t>Shift handover logbook with digital sign-off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CBD5E1"/>
                </a:solidFill>
                <a:latin typeface="Inter"/>
              </a:rPr>
              <a:t>CSV report exports for flights and billing</a:t>
            </a:r>
          </a:p>
        </p:txBody>
      </p:sp>
      <p:sp>
        <p:nvSpPr>
          <p:cNvPr id="19" name="Card"/>
          <p:cNvSpPr/>
          <p:nvPr/>
        </p:nvSpPr>
        <p:spPr>
          <a:xfrm>
            <a:off x="8097286" y="1874520"/>
            <a:ext cx="3545769" cy="3566160"/>
          </a:xfrm>
          <a:prstGeom prst="roundRect">
            <a:avLst>
              <a:gd name="adj" fmla="val 361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Icon tile"/>
          <p:cNvSpPr/>
          <p:nvPr/>
        </p:nvSpPr>
        <p:spPr>
          <a:xfrm>
            <a:off x="8298454" y="2075688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8000"/>
              </a:srgbClr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21" name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6968" y="2164202"/>
            <a:ext cx="225308" cy="225308"/>
          </a:xfrm>
          <a:prstGeom prst="rect">
            <a:avLst/>
          </a:prstGeom>
        </p:spPr>
      </p:pic>
      <p:sp>
        <p:nvSpPr>
          <p:cNvPr id="22" name="Card title"/>
          <p:cNvSpPr txBox="1"/>
          <p:nvPr/>
        </p:nvSpPr>
        <p:spPr>
          <a:xfrm>
            <a:off x="8828806" y="2039112"/>
            <a:ext cx="2613081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spc="-16">
                <a:solidFill>
                  <a:srgbClr val="FFFFFF"/>
                </a:solidFill>
                <a:latin typeface="Plus Jakarta Sans"/>
              </a:rPr>
              <a:t>Future Roadmap</a:t>
            </a:r>
          </a:p>
        </p:txBody>
      </p:sp>
      <p:sp>
        <p:nvSpPr>
          <p:cNvPr id="23" name="Card bullets"/>
          <p:cNvSpPr txBox="1"/>
          <p:nvPr/>
        </p:nvSpPr>
        <p:spPr>
          <a:xfrm>
            <a:off x="8298454" y="2679192"/>
            <a:ext cx="3143433" cy="2560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800"/>
              </a:spcAft>
              <a:buClr>
                <a:srgbClr val="38BDF8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CBD5E1"/>
                </a:solidFill>
                <a:latin typeface="Inter"/>
              </a:rPr>
              <a:t>Machine-learning turnaround delay forecasting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800"/>
              </a:spcAft>
              <a:buClr>
                <a:srgbClr val="38BDF8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CBD5E1"/>
                </a:solidFill>
                <a:latin typeface="Inter"/>
              </a:rPr>
              <a:t>RFID and IoT apron vehicle tracking over MQTT</a:t>
            </a:r>
          </a:p>
          <a:p>
            <a:pPr marL="173736" indent="-173736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ct val="100000"/>
              <a:buFont typeface="Arial"/>
              <a:buChar char="•"/>
            </a:pPr>
            <a:r>
              <a:rPr sz="1300" b="0" i="0">
                <a:solidFill>
                  <a:srgbClr val="CBD5E1"/>
                </a:solidFill>
                <a:latin typeface="Inter"/>
              </a:rPr>
              <a:t>DigiYatra biometric e-gates integration</a:t>
            </a:r>
          </a:p>
        </p:txBody>
      </p:sp>
      <p:sp>
        <p:nvSpPr>
          <p:cNvPr id="24" name="Team line"/>
          <p:cNvSpPr txBox="1"/>
          <p:nvPr/>
        </p:nvSpPr>
        <p:spPr>
          <a:xfrm>
            <a:off x="548640" y="57150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CBD5E1"/>
                </a:solidFill>
                <a:latin typeface="Inter Medium"/>
              </a:rPr>
              <a:t>Krishna Solanki  ·  Chaitanya Tikku  ·  Anuvrat Tripathi  ·  Anay Modi</a:t>
            </a:r>
          </a:p>
        </p:txBody>
      </p:sp>
      <p:sp>
        <p:nvSpPr>
          <p:cNvPr id="25" name="Footer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4748B"/>
                </a:solidFill>
                <a:latin typeface="Outfit SemiBold"/>
              </a:rPr>
              <a:t>Saphire AOCS</a:t>
            </a:r>
            <a:r>
              <a:rPr sz="950" b="0" i="0">
                <a:solidFill>
                  <a:srgbClr val="64748B"/>
                </a:solidFill>
                <a:latin typeface="Inter"/>
              </a:rPr>
              <a:t>   ·   Software Engineering Project 2026</a:t>
            </a:r>
          </a:p>
        </p:txBody>
      </p:sp>
      <p:sp>
        <p:nvSpPr>
          <p:cNvPr id="26" name="Page number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64748B"/>
                </a:solidFill>
                <a:latin typeface="Outfit SemiBold"/>
              </a:rPr>
              <a:t>22 / 22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Saphire">
      <a:dk1>
        <a:srgbClr val="0F2942"/>
      </a:dk1>
      <a:lt1>
        <a:srgbClr val="FFFFFF"/>
      </a:lt1>
      <a:dk2>
        <a:srgbClr val="1E3A5F"/>
      </a:dk2>
      <a:lt2>
        <a:srgbClr val="FAF9F6"/>
      </a:lt2>
      <a:accent1>
        <a:srgbClr val="0284C7"/>
      </a:accent1>
      <a:accent2>
        <a:srgbClr val="10B981"/>
      </a:accent2>
      <a:accent3>
        <a:srgbClr val="D97706"/>
      </a:accent3>
      <a:accent4>
        <a:srgbClr val="DC2626"/>
      </a:accent4>
      <a:accent5>
        <a:srgbClr val="38BDF8"/>
      </a:accent5>
      <a:accent6>
        <a:srgbClr val="64748B"/>
      </a:accent6>
      <a:hlink>
        <a:srgbClr val="0284C7"/>
      </a:hlink>
      <a:folHlink>
        <a:srgbClr val="0369A1"/>
      </a:folHlink>
    </a:clrScheme>
    <a:fontScheme name="Saphire">
      <a:majorFont>
        <a:latin typeface="Plus Jakarta Sans Extra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3216</Words>
  <Application>Microsoft Macintosh PowerPoint</Application>
  <PresentationFormat>Widescreen</PresentationFormat>
  <Paragraphs>596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Inter</vt:lpstr>
      <vt:lpstr>Inter Medium</vt:lpstr>
      <vt:lpstr>Inter SemiBold</vt:lpstr>
      <vt:lpstr>JetBrains Mono Medium</vt:lpstr>
      <vt:lpstr>Outfit</vt:lpstr>
      <vt:lpstr>Outfit ExtraBold</vt:lpstr>
      <vt:lpstr>Outfit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Saphire AOCS: Airport Operations Coordination System</dc:title>
  <dc:subject>Software Engineering Project 2026</dc:subject>
  <dc:creator>Krishna Solanki (I075), Chaitanya Tikku (I078), Anuvrat Tripathi (I080), Anay Modi (I088)</dc:creator>
  <cp:keywords>Saphire AOCS; Software Engineering; Airport Operations</cp:keywords>
  <dc:description>generated using python-pptx</dc:description>
  <cp:lastModifiedBy>KRISHNA SOLANKI - 70412400024</cp:lastModifiedBy>
  <cp:revision>1</cp:revision>
  <dcterms:created xsi:type="dcterms:W3CDTF">2013-01-27T09:14:16Z</dcterms:created>
  <dcterms:modified xsi:type="dcterms:W3CDTF">2026-10-03T17:13:11Z</dcterms:modified>
  <cp:category/>
</cp:coreProperties>
</file>