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9"/>
    <p:restoredTop sz="94645"/>
  </p:normalViewPr>
  <p:slideViewPr>
    <p:cSldViewPr snapToGrid="0" snapToObjects="1">
      <p:cViewPr varScale="1">
        <p:scale>
          <a:sx n="169" d="100"/>
          <a:sy n="169" d="100"/>
        </p:scale>
        <p:origin x="216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380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esteemed faculty evaluators. We present Saphire AOCS, an enterprise-grade full-stack airport operations and coordination platform developed by Krishna Solanki (I075), Chaitanya Tikku (I078), Anuvrat Tripathi (I080), and Anay Modi (I088). Over the course of 9 laboratory experiments, we designed a normalized 41-table PostgreSQL relational database with over 158,000 live records, 18 RESTful controllers in Spring Boot 3, and 16 dedicated web consoles in React 19 with zero static UI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structural foundation of Saphire AOCS is inspired by CSMIA Mumbai. It coordinates a balanced 4-limb X-shaped terminal with radial jetbridge piers and a quad-parallel runway system capable of simultaneous CAT-III autoland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1, we formulated the core problem statement: modern airports suffer from operational fragmentation. Saphire AOCS bridges this gap by unifying landside check-in, airside turnaround, security screening, and commercial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decomposed requirements into formal User Stories across all primary roles. Each story includes strict acceptance criteria verified in our automated test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non-functional requirements define enterprise-grade performance: sub-350ms response times, 3NF data integrity, and single active session security with server-side revocation.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2, we adopted the Agile Scrum methodology with 2-week sprint cycles. We progressed methodically across 5 sprints, from data modeling to full-stack integration and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3, we modeled the Use Case diagram identifying 10 distinct actor roles with formal &lt;&lt;include&gt;&gt; and &lt;&lt;extend&gt;&gt; operational stereotypes.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8 details the formal Use Case Specifications for DCS Check-In and Gate Allocation, specifying main success paths, pre/post-conditions, and exception branching.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4, we modeled the UML Activity Diagram capturing parallel fork-join synchronization across cabin cleaning, apron fueling, catering, and baggage servicing.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10 details our IATA Resolution 753 compliant baggage tracking lifecycle, tracking luggage across 5 mandatory scan checkpoints from check-in to reclaim.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5, we engineered the UML Class Diagram mapping directly to our Spring Data JPA domain layer. Entities like Flight, AircraftType, Gate, Passenger, and TurnaroundTask enforce rigorous structural multiplicities.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12 demonstrates the design patterns implemented: Repository Pattern for data abstraction, Strategy Pattern for airline tariff billing, Filter Chain Pattern for JWT security, and DTO Pattern for clean API contracts.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6, we modeled the Sequence Diagram for Turnaround Coordination, capturing synchronous and asynchronous method invocations between the UI, controllers, services, and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14 details the sequence flow for Departure Control Check-In, demonstrating atomic database persistence across boarding passes, baggage tags, and scan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7, we engineered the Collaboration Diagram emphasizing the structural organization of objects and numbered message passing during security screening and clearance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8, we modeled the Data Flow Diagrams: DFD Level 0 captures the airport context and external entities, while DFD Level 1 decomposes the system into 5 functional processes: Flight Ops, Check-in, BHS Baggage, Airside, and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database architecture contains 41 normalized tables in strict 3NF across 6 operational domains. 158,660 live records are automatically bootstrapped via 20 versioned Flyway migrations.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18 presents our Data Warehouse Star Schema, supporting OLAP queries on turnaround durations, delay causality, hourly runway throughput, and airline revenue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tech stack pairs React 19 on the front end with Spring Boot 3 on Java 17 and PostgreSQL 18. All 16 web consoles communicate with live REST APIs with zero static mock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Lab 9, we executed rigorous quality assurance. 109 backend unit and integration tests implement Boundary Value Analysis, Equivalence Partitioning, and state transition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21 showcases our 16 dedicated web consoles: 7 public passenger pages and 9 role-based staff consoles covering every operational function in the airport.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conclusion, Saphire AOCS successfully demonstrates rigorous software engineering practices across requirements analysis, UML modeling, database normalization, full-stack integration, and testing. Thank you, and we welcome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292608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SAPHIRE AOCS</a:t>
            </a:r>
          </a:p>
          <a:p>
            <a:pPr>
              <a:spcBef>
                <a:spcPts val="800"/>
              </a:spcBef>
              <a:defRPr sz="1800">
                <a:solidFill>
                  <a:srgbClr val="38BDF8"/>
                </a:solidFill>
              </a:defRPr>
            </a:pPr>
            <a:r>
              <a:t>Airport Operations Coordination System: Master Capstone Platform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A full-stack enterprise platform coordinating multi-terminal flight turnaround, dynamic gate assignment, departure control check-in, baggage reconciliation (BHS), runway telemetry, and airline billing.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621792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5669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PROJECT TEAM ROSTER &amp; OWNERSHIP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Krishna Solanki (I075) - Database &amp; System Integration Lead (PostgreSQL / Flyway / API Wiring)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Chaitanya Tikku (I078) - Documentation, UML &amp; QA Testing Lead (SRS / Diagrams / Test Suite)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Anuvrat Tripathi (I080) - Frontend UI/UX Lead (React 19 / TypeScript / Material UI / Bento)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Anay Modi (I088) - Backend API &amp; Logic Lead (Spring Boot 3 / RBAC Security / Dispatch)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931920"/>
            <a:ext cx="4327855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0" y="4114800"/>
            <a:ext cx="3840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SYSTEM ARCHITECTURE SCALE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41 Relational Tables (Strict 3NF Schema)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158,660+ Live Seed Records (20 Flyway Migrations)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16 Dedicated Web Consoles (7 Public + 9 Role Consoles)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109 Backend Unit &amp; Integration Tests (100% Passing)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• Java 17 + Spring Boot 3.2.5 + React 19 + Postgres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DOMAIN ANALYSIS &amp; AERODROME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Saphire International Mega-Aerodrome Masterplan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Modeled after Chhatrapati Shivaji Maharaj International Airport (CSMIA, Mumbai) 4-limb quad-runway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AERODROME PHYSICAL ASSET SPECIFICATIONS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Terminal Topography: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Central passenger processing hub with 4 radial X-shaped concourse limbs (Concourses A, B, C, D).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Radial Contact Stands: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80+ contact gates with dual/triple glass Passenger Boarding Bridges (PBB), 400Hz GPU, and Pre-Conditioned Air (PCA).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Quad Parallel Runway System: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Runways 16L/16R (East complex) &amp; 17L/23R (West complex) for simultaneous independent IFR arrivals &amp; departures.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Baggage Transit Corridors: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High-speed underground conveyor network with automated tray sorters connecting check-in to aircraft stands.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</a:defRPr>
            </a:pPr>
            <a:r>
              <a:t>• Logistics &amp; Cargo City: 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Multi-bay heavy freight cargo terminal with hazardous material (HAZMAT) vaults and customs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balanced_4limb_quad_runway_airport_17857808794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47272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REQUIREMENT ANALYSIS &amp;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Definition, Operational Scope &amp;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Identifying critical pain-points across traditional airport operational silos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Operational Silos &amp; Latency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Airlines, ground handling agencies, security bureaus, and ATC operate on disconnected legacy databases, causing communication lags and cascade flight turnaround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Turnaround Bottlenecks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Critical-path ground activities (fueling, catering, cabin cleaning, baggage loading) lack unified Gantt scheduling and real-time delay attribution.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Gate Allocation Conflicts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Aircraft manually assigned to gates without algorithmic wingspan and MTOW checks, leading to hazardous stand overcrowding and 409 conflict states.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Baggage Tracing Deficits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Missing end-to-end IATA 10-digit barcode tracking across inline 3D CT scanners, sorter laterals, apron tugs, and reclaim carousels.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5. Commercial Tariff Invoicing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Manual consolidation of landing fees, parking surcharges, and aerobridge royalties results in billing leakage and delayed revenue cycles.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114800"/>
            <a:ext cx="33832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42976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6. Solution: Saphire AOCS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</a:defRPr>
            </a:pPr>
            <a:r>
              <a:t>An integrated, real-time A-CDM platform connecting landside check-in, airside turnaround, security clearance, and billing on a unified relational 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REQUIREMENT ANALYSIS &amp; AGILE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Agile User Stories &amp; 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Formal user stories mapping primary stakeholder goals to deterministic system acceptance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AOCC DUTY CONTROLLER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an AOCC Duty Manager, I want to monitor live turnaround task completion bars for all active flights, so that I can preemptively detect delay risks and assign standardized IATA delay codes."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Calculates dynamic Estimated Off-Block Time (EOBT).</a:t>
            </a:r>
            <a:br/>
            <a:r>
              <a:t>- Links duration to specific IATA delay codes (e.g. Code 41: Cleaning).</a:t>
            </a:r>
            <a:br/>
            <a:r>
              <a:t>- Real-time task progress bar updates.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DCS CHECK-IN AGENT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 Check-in Agent at Counter C-14, I want to search bookings by PNR/Passport, pick seats on an interactive cabin grid, and weigh checked baggage, so that I can issue IATA thermal boarding passes."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Instant lookup of travelers and flight segments.</a:t>
            </a:r>
            <a:br/>
            <a:r>
              <a:t>- Seat map lock prevents concurrent duplicate bookings.</a:t>
            </a:r>
            <a:br/>
            <a:r>
              <a:t>- Generates PDF417 barcode &amp; 10-digit bag tag.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AIRSIDE DISPATCHER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an Airside Operations Officer, I want automated gate compatibility validation, so that widebody aircraft are never assigned to gates narrower than their physical wingspan."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Queries gate_assignment_rules for max_wingspan_meters.</a:t>
            </a:r>
            <a:br/>
            <a:r>
              <a:t>- Rejects incompatible assignments with HTTP 409 Conflict.</a:t>
            </a:r>
            <a:br/>
            <a:r>
              <a:t>- Live stand occupancy heatmap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ROLE: PUBLIC PASSENGER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"As a passenger, I want to track my flight status in real time, monitor baggage claim carousels, and submit lost &amp; found custody claims online."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Acceptance Criteria: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- Unauthenticated public search with PII redaction.</a:t>
            </a:r>
            <a:br/>
            <a:r>
              <a:t>- Generates tracked ticket numbers (INQ-2026-XXXXX).</a:t>
            </a:r>
            <a:br/>
            <a:r>
              <a:t>- Real-time carousel feed display.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01: SYSTEM ARCHITECTURAL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Non-Functional Requirements (NFRs) &amp; Security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Engineering benchmarks for latency, security, data integrity, and fault tolerance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Performance &amp; Latency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REST API response time &lt;= 350ms under 1,000 concurrent requests.</a:t>
            </a:r>
            <a:br/>
            <a:r>
              <a:t>• Spring Data Pageable capped at max-page-size=100.</a:t>
            </a:r>
            <a:br/>
            <a:r>
              <a:t>• Indexing on all 47 Foreign Key edges for sub-10ms query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High Availability &amp; Scalability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99.9% target system uptime with stateless Spring Boot services.</a:t>
            </a:r>
            <a:br/>
            <a:r>
              <a:t>• Zero in-memory session locking enabling seamless horizontal scaling.</a:t>
            </a:r>
            <a:br/>
            <a:r>
              <a:t>• Dockerized multi-stage builds with Nginx reverse proxy.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Security &amp; Session Governance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Stateless JWT authentication signed with HMAC-SHA256 (32+ char key).</a:t>
            </a:r>
            <a:br/>
            <a:r>
              <a:t>• Single active session per user tracked via auth_sessions table.</a:t>
            </a:r>
            <a:br/>
            <a:r>
              <a:t>• Passwords hashed with BCrypt (strength 10), never serialized.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Data Integrity &amp; Normalization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Strict Third Normal Form (3NF) across 41 relational tables.</a:t>
            </a:r>
            <a:br/>
            <a:r>
              <a:t>• ON DELETE RESTRICT on legal clearance and audit records.</a:t>
            </a:r>
            <a:br/>
            <a:r>
              <a:t>• Double-booking prevention and wingspan validation check constraints.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02: SOFTWARE PROCESS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Agile Scrum Process Model &amp; Sprint Cadence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Iterative 2-week sprint breakdown from domain modeling to production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1.0 (Weeks 1-2)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Domain &amp; Relational Core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3NF relational schema design.</a:t>
            </a:r>
            <a:br/>
            <a:r>
              <a:t>• Flyway migrations V1 to V3.</a:t>
            </a:r>
            <a:br/>
            <a:r>
              <a:t>• Master aerodrome seed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20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2.0 (Weeks 3-4)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Backend Services &amp; Auth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Spring Boot REST controllers.</a:t>
            </a:r>
            <a:br/>
            <a:r>
              <a:t>• JWT &amp; Spring Security RBAC.</a:t>
            </a:r>
            <a:br/>
            <a:r>
              <a:t>• auth_sessions &amp; lockout engine.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93792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3.0 (Weeks 5-6)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UI Scaffolding &amp; Public Portal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React 19 + TypeScript + Vite.</a:t>
            </a:r>
            <a:br/>
            <a:r>
              <a:t>• 7 Public passenger pages.</a:t>
            </a:r>
            <a:br/>
            <a:r>
              <a:t>• Tailwind &amp; MUI design tokens.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70064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4.0 (Weeks 7-8)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Role Consoles &amp; Workflows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9 Staff operational dashboards.</a:t>
            </a:r>
            <a:br/>
            <a:r>
              <a:t>• DCS Check-In &amp; Boarding console.</a:t>
            </a:r>
            <a:br/>
            <a:r>
              <a:t>• AOCC Turnaround Gantt tracker.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645920"/>
            <a:ext cx="20116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46336" y="1828800"/>
            <a:ext cx="179222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Sprint 5.0 (Weeks 9-10)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Integration, Testing &amp; Deploy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Full-stack live API wiring.</a:t>
            </a:r>
            <a:br/>
            <a:r>
              <a:t>• 109 Unit &amp; integration tests.</a:t>
            </a:r>
            <a:br/>
            <a:r>
              <a:t>• Docker Compose orchestration.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03: OBJECT-ORIENTED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Use Case Model &amp; 10 Stakeholder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Comprehensive use case model establishing system boundaries and stereotype associations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10 PRIMARY STAKEHOLDER ACTORS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1. System Administrator (User lifecycle, role RBAC, audit stream)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2. AOCC Duty Manager (Flight board, turnaround Gantt, delay codes)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3. Ground Handling Supervisor (Ramp tasks, equipment allocation)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4. Ramp Agent (Servicing execution: baggage, catering, cleaning)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5. Airside Dispatcher (Gate allocation, runway telemetry)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6. Check-In Agent (Passenger lookup, seat assignment, IATA tags)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7. Baggage Handler (BHS infeed scanning, ULD stowing, carousel)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8. Security Officer (CISF) (3D CT screening, clearance logging)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9. Immigration Officer (Emigration/Immigration passport stamping)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10. Airline Billing Clerk (Tariff compilation, invoice generation)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8764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STEREOTYPE RELATIONSHIPS &amp; ASSOCIATIONS</a:t>
            </a:r>
          </a:p>
          <a:p>
            <a:pPr>
              <a:spcBef>
                <a:spcPts val="600"/>
              </a:spcBef>
              <a:defRPr sz="1050" b="1">
                <a:solidFill>
                  <a:srgbClr val="FDE047"/>
                </a:solidFill>
              </a:defRPr>
            </a:pPr>
            <a:r>
              <a:t>• &lt;&lt;include&gt;&gt;: Passenger Check-In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UC-05 (Check-In) &lt;&lt;includes&gt;&gt; UC-05a (Verify Documents), UC-05b (Assign Seat), and UC-05c (Issue Boarding Pass).</a:t>
            </a:r>
          </a:p>
          <a:p>
            <a:pPr>
              <a:spcBef>
                <a:spcPts val="600"/>
              </a:spcBef>
              <a:defRPr sz="1050" b="1">
                <a:solidFill>
                  <a:srgbClr val="FDE047"/>
                </a:solidFill>
              </a:defRPr>
            </a:pPr>
            <a:r>
              <a:t>• &lt;&lt;extend&gt;&gt;: Gate Conflict Detection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UC-03 (Assign Gate) &lt;&lt;extends&gt;&gt; UC-03a (Detect Wingspan Conflict) triggered when aircraft wingspan &gt; gate max allowance.</a:t>
            </a:r>
          </a:p>
          <a:p>
            <a:pPr>
              <a:spcBef>
                <a:spcPts val="600"/>
              </a:spcBef>
              <a:defRPr sz="1050" b="1">
                <a:solidFill>
                  <a:srgbClr val="FDE047"/>
                </a:solidFill>
              </a:defRPr>
            </a:pPr>
            <a:r>
              <a:t>• &lt;&lt;extend&gt;&gt;: Flight Delay Escalation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UC-04 (Dispatch Turnaround) &lt;&lt;extends&gt;&gt; UC-07 (Log Delay Code) triggered when critical path turnaround exceeds SLA threshold.</a:t>
            </a:r>
          </a:p>
          <a:p>
            <a:pPr>
              <a:spcBef>
                <a:spcPts val="600"/>
              </a:spcBef>
              <a:defRPr sz="1050" b="1">
                <a:solidFill>
                  <a:srgbClr val="FDE047"/>
                </a:solidFill>
              </a:defRPr>
            </a:pPr>
            <a:r>
              <a:t>• &lt;&lt;include&gt;&gt;: Security Boarding Clearance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UC-09 (Board Passenger) &lt;&lt;includes&gt;&gt; UC-09a (Verify Clearance Log) requiring APPROVED status in passenger_clearance_logs.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03: USE CASE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Formal Use Case Specifications &amp; Exception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Detailed pre/post conditions, trigger events, and exception branching for core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USE CASE SPEC: UC-05 (DCS CHECK-IN)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Primary Actor: Check-In Agent (CHECKIN_AGENT)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Preconditions: Flight status in (SCHEDULED, BOARDING); Counter assigned.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Main Operational Flow:</a:t>
            </a:r>
            <a:br/>
            <a:r>
              <a:t>  1. Agent enters 6-character PNR or Passport.</a:t>
            </a:r>
            <a:br/>
            <a:r>
              <a:t>  2. System queries travelers and passengers.</a:t>
            </a:r>
            <a:br/>
            <a:r>
              <a:t>  3. Agent selects seat on interactive cabin map.</a:t>
            </a:r>
            <a:br/>
            <a:r>
              <a:t>  4. Smart scale captures checked baggage weight.</a:t>
            </a:r>
            <a:br/>
            <a:r>
              <a:t>  5. System generates boarding_passes (PDF417 barcode) and bag_tags (10-digit IATA tag).</a:t>
            </a:r>
            <a:br/>
            <a:r>
              <a:t>  6. Baggage scan event logged at CHECKIN_DESK.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Postconditions: Seat marked OCCUPIED; Bag marked CHECKED_IN; Boarding pass printable.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Exception Flow (E1 - Duplicate Booking): If seat selected concurrently, system aborts with 409 Conflict.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USE CASE SPEC: UC-03 (GATE ALLOCATION)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Primary Actor: Airside Dispatcher / AOCC Manager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Preconditions: Flight scheduled; Target gate active.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Main Operational Flow:</a:t>
            </a:r>
            <a:br/>
            <a:r>
              <a:t>  1. Dispatcher selects scheduled flight.</a:t>
            </a:r>
            <a:br/>
            <a:r>
              <a:t>  2. System retrieves aircraft wingspan &amp; MTOW.</a:t>
            </a:r>
            <a:br/>
            <a:r>
              <a:t>  3. System queries gate_assignment_rules for gate.</a:t>
            </a:r>
            <a:br/>
            <a:r>
              <a:t>  4. If aircraft_wingspan &lt;= max_wingspan_meters, system assigns gate_id in flights table.</a:t>
            </a:r>
            <a:br/>
            <a:r>
              <a:t>  5. Gate operational status set to OCCUPIED.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Postconditions: Gate allocated; FIDS board updated.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Exception Flow (E1 - Wingspan Conflict):</a:t>
            </a:r>
            <a:br/>
            <a:r>
              <a:t>  If wingspan exceeds gate threshold, assignment rejected with HTTP 409 Conflict and logged on conflict 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04: BEHAVIORAL &amp; WORKFLOW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Activity Diagram: Aircraft Turnaround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Critical path coordination with parallel fork-join synchronization across apron ground services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TURNAROUND CRITICAL-PATH ACTIVITY SEQUENCE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Phase 1: Inbound Arrival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Aircraft touches down on Runway 16L/17L -&gt; Taxi to assigned stand -&gt; Wheel chocks positioned -&gt; Jetbridge docked -&gt; Deboarding commences.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Phase 2: Parallel Servicing Fork (Fork Node)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Four concurrent service streams execute in parallel swimlanes:</a:t>
            </a:r>
            <a:br/>
            <a:r>
              <a:t>  • Lane A (Cabin Cleaning): Waste removal, deep clean, and sanitization (tasks.task_name = 'CABIN_CLEANING').</a:t>
            </a:r>
            <a:br/>
            <a:r>
              <a:t>  • Lane B (Apron Refueling): Fuel hydrant truck connects, pumps aviation turbine fuel, logs density (fuel_logs).</a:t>
            </a:r>
            <a:br/>
            <a:r>
              <a:t>  • Lane C (Inflight Catering): High-loader truck docks, offloads empties, reloads meal carts (tasks.task_name = 'CATERING_RELOAD').</a:t>
            </a:r>
            <a:br/>
            <a:r>
              <a:t>  • Lane D (Baggage Handling): Inbound ULDs offloaded to carousel, outbound bags loaded into cargo hold.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Phase 3: Synchronization Join (Join Node)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Synchronization Bar: All 4 parallel servicing tasks must report status = 'COMPLETED' before boarding is permitted.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Phase 4: Outbound Departure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Passenger boarding commences -&gt; Final loadsheet verified -&gt; Cargo doors secured -&gt; Pushback tug connects -&gt; AOBT logged -&gt; Airborne status.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04: BEHAVIORAL &amp; WORKFLOW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Activity Diagram: Baggage Reconciliation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End-to-end baggage tracking pipeline from landside induction to airside loading and reclaim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IATA RESOLUTION 753 COMPLIANT BAGGAGE TRACKING FLOW</a:t>
            </a:r>
          </a:p>
          <a:p>
            <a:pPr>
              <a:spcBef>
                <a:spcPts val="500"/>
              </a:spcBef>
              <a:defRPr sz="1100" b="1">
                <a:solidFill>
                  <a:srgbClr val="FDE047"/>
                </a:solidFill>
              </a:defRPr>
            </a:pPr>
            <a:r>
              <a:t>1. Check-In &amp; Bag Tag Induction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Bag weighed at check-in counter -&gt; 10-digit IATA barcode generated -&gt; Tag applied -&gt; Scan event logged at CHECKIN_DESK.</a:t>
            </a:r>
          </a:p>
          <a:p>
            <a:pPr>
              <a:spcBef>
                <a:spcPts val="500"/>
              </a:spcBef>
              <a:defRPr sz="1100" b="1">
                <a:solidFill>
                  <a:srgbClr val="FDE047"/>
                </a:solidFill>
              </a:defRPr>
            </a:pPr>
            <a:r>
              <a:t>2. Security Screening &amp; 3D CT Screening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Bag traverses conveyor to inline EDS/3D CT scanner -&gt; If threat detected -&gt; Divert to Level 4 physical inspection; If clear -&gt; Divert to sorter lateral.</a:t>
            </a:r>
          </a:p>
          <a:p>
            <a:pPr>
              <a:spcBef>
                <a:spcPts val="500"/>
              </a:spcBef>
              <a:defRPr sz="1100" b="1">
                <a:solidFill>
                  <a:srgbClr val="FDE047"/>
                </a:solidFill>
              </a:defRPr>
            </a:pPr>
            <a:r>
              <a:t>3. Sortation &amp; Make-Up Area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Automated barcode scanner reads tag -&gt; Sorter chute directs bag to allocated flight make-up lateral -&gt; Handler scans bag into Unit Load Device (ULD).</a:t>
            </a:r>
          </a:p>
          <a:p>
            <a:pPr>
              <a:spcBef>
                <a:spcPts val="500"/>
              </a:spcBef>
              <a:defRPr sz="1100" b="1">
                <a:solidFill>
                  <a:srgbClr val="FDE047"/>
                </a:solidFill>
              </a:defRPr>
            </a:pPr>
            <a:r>
              <a:t>4. Apron Ramp Loading &amp; Reconciliation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ULD transported to stand -&gt; Ramp agent scans bag at aircraft hold -&gt; BRS reconciles bag against checked-in passenger boarding status.</a:t>
            </a:r>
          </a:p>
          <a:p>
            <a:pPr>
              <a:spcBef>
                <a:spcPts val="500"/>
              </a:spcBef>
              <a:defRPr sz="1100" b="1">
                <a:solidFill>
                  <a:srgbClr val="FDE047"/>
                </a:solidFill>
              </a:defRPr>
            </a:pPr>
            <a:r>
              <a:t>5. Arrival Carousel Induction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Inbound flight -&gt; Offload to ramp tug -&gt; Transport to reclaim hall -&gt; Bags scanned onto carousel -&gt; Passenger collects baggage.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05: STRUCTURAL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Class Diagram &amp; Domain Entity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Object-oriented domain model with multiplicity, inheritance, and encapsulation boundaries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CORE DOMAIN CLASS HIERARCHY</a:t>
            </a:r>
          </a:p>
          <a:p>
            <a:pPr>
              <a:spcBef>
                <a:spcPts val="300"/>
              </a:spcBef>
              <a:defRPr sz="1000" b="1">
                <a:solidFill>
                  <a:srgbClr val="FDE047"/>
                </a:solidFill>
              </a:defRPr>
            </a:pPr>
            <a:r>
              <a:t>• Flight (Entity):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flightId, flightNumber, status, scheduledDep, actualDep, scheduledArr, actualArr.</a:t>
            </a:r>
            <a:br/>
            <a:r>
              <a:t>Relations: 1:N with TurnaroundTask, 1:N with Passenger.</a:t>
            </a:r>
          </a:p>
          <a:p>
            <a:pPr>
              <a:spcBef>
                <a:spcPts val="300"/>
              </a:spcBef>
              <a:defRPr sz="1000" b="1">
                <a:solidFill>
                  <a:srgbClr val="FDE047"/>
                </a:solidFill>
              </a:defRPr>
            </a:pPr>
            <a:r>
              <a:t>• AircraftType &amp; Aircraft: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AircraftType defines maxWingspan, MTOW, maxPaxCapacity.</a:t>
            </a:r>
            <a:br/>
            <a:r>
              <a:t>Aircraft holds registrationNumber and references Airline &amp; AircraftType.</a:t>
            </a:r>
          </a:p>
          <a:p>
            <a:pPr>
              <a:spcBef>
                <a:spcPts val="300"/>
              </a:spcBef>
              <a:defRPr sz="1000" b="1">
                <a:solidFill>
                  <a:srgbClr val="FDE047"/>
                </a:solidFill>
              </a:defRPr>
            </a:pPr>
            <a:r>
              <a:t>• Gate &amp; GateAssignmentRule: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Gate defines terminal, concourse, isOperational.</a:t>
            </a:r>
            <a:br/>
            <a:r>
              <a:t>GateAssignmentRule enforces maxWingspan &amp; maxWeight limits.</a:t>
            </a:r>
          </a:p>
          <a:p>
            <a:pPr>
              <a:spcBef>
                <a:spcPts val="300"/>
              </a:spcBef>
              <a:defRPr sz="1000" b="1">
                <a:solidFill>
                  <a:srgbClr val="FDE047"/>
                </a:solidFill>
              </a:defRPr>
            </a:pPr>
            <a:r>
              <a:t>• Passenger &amp; BoardingPass: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Passenger links Traveler to Flight (PNR).</a:t>
            </a:r>
            <a:br/>
            <a:r>
              <a:t>BoardingPass encapsulates seatNumber, barcodeData, and cabinClass.</a:t>
            </a:r>
          </a:p>
          <a:p>
            <a:pPr>
              <a:spcBef>
                <a:spcPts val="300"/>
              </a:spcBef>
              <a:defRPr sz="1000" b="1">
                <a:solidFill>
                  <a:srgbClr val="FDE047"/>
                </a:solidFill>
              </a:defRPr>
            </a:pPr>
            <a:r>
              <a:t>• TurnaroundTask &amp; Equipment: 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TurnaroundTask tracks taskName, status, start/end timestamps.</a:t>
            </a:r>
            <a:br/>
            <a:r>
              <a:t>EquipmentAssignment links GroundEquipment to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igure 5 - Class 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05: OBJECT-ORIENTED DESIGN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Software Engineering Design Patterns in Saphire AOCS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Enterprise design patterns applied across persistence, business logic, and security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Repository Pattern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Spring Data JPA Repositories (FlightRepository, GateRepository, TaskRepository) abstract low-level persistence queries behind type-safe interfaces, decoupling controllers from 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Strategy Pattern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AirlineBillingService implements modular tariff strategies calculating landing fees based on MTOW, stand docking duration, and passenger head-taxes into InvoiceLineItem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Interceptor / Filter Chain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JwtAuthFilter &amp; RequestLoggingFilter intercept every HTTP request to enforce stateless token authentication, session validation against auth_sessions, and audit logging.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Data Transfer Object (DTO)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Decouples internal JPA entity persistence graphs from REST API JSON contracts (FlightDTO, CheckinLookupDTO, BoardingPassResponseDTO), eliminating circular serialization.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06: DYNAMIC &amp; INTERACTION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Sequence Diagram: Flight Turnaround &amp; Delay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Time-ordered interaction sequence coordinating AOCC controller actions, service logic, and database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MESSAGE SEQUENCE LIFELINES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Lifelines: AOCC Controller -&gt; AOCCDashboard.tsx -&gt; FlightOperationsController -&gt; TurnaroundTaskService -&gt; TaskRepository -&gt; PostgreSQL DB.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1: Controller queries getTurnaroundTimeline(flightId).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2: Service fetches task list and calculates SLA variances.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3: Ground agent completes task -&gt; PUT /api/tasks/{id}/complete.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4 (Alt Frame - Task Delay): If actualEnd &gt; scheduledEnd, service triggers logDelayCode(flightId, delayCode, minutes) -&gt; Inserts record into delay_logs.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Step 5: Service returns 200 OK -&gt; UI updates turnaround Gantt progress bar in real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igure 6 - Sequence 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06: DYNAMIC &amp; INTERACTION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Sequence Diagram: DCS Check-In &amp; IATA Boarding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Time-ordered interaction sequence for passenger booking lookup, seat map locking, and barcode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INTERACTION LIFELINES: AGENT -&gt; DCS CONSOLE -&gt; BACKEND -&gt; DB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1. Passenger Lookup Phase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Check-in Agent submits PNR '6E-8841' -&gt; POST /api/checkin/lookup -&gt; CheckinController calls PassengerService -&gt; Queries passengers &amp; travelers -&gt; Returns booking segment.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2. Visual Seat Map Query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Agent requests seat map -&gt; GET /api/checkin/flights/{id}/seatmap -&gt; Service queries existing boarding_passes -&gt; Returns available vs. occupied seat matrix.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3. Boarding Pass &amp; Tag Generation Phase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Agent selects seat '14B' and enters luggage weight 18.5kg -&gt; POST /api/checkin/issue-boarding-pass.</a:t>
            </a:r>
            <a:br/>
            <a:r>
              <a:t>  • CheckinService validates seat lock.</a:t>
            </a:r>
            <a:br/>
            <a:r>
              <a:t>  • Inserts record into boarding_passes with unique ticket number &amp; PDF417 barcode.</a:t>
            </a:r>
            <a:br/>
            <a:r>
              <a:t>  • Inserts record into bag_tags with 10-digit IATA tag.</a:t>
            </a:r>
            <a:br/>
            <a:r>
              <a:t>  • Inserts record into baggage_scan_events (location = 'CHECKIN_DESK_14').</a:t>
            </a:r>
          </a:p>
          <a:p>
            <a:pPr>
              <a:spcBef>
                <a:spcPts val="600"/>
              </a:spcBef>
              <a:defRPr sz="1100" b="1">
                <a:solidFill>
                  <a:srgbClr val="FDE047"/>
                </a:solidFill>
              </a:defRPr>
            </a:pPr>
            <a:r>
              <a:t>4. Atomic Transaction Commit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Database commits all 3 inserts atomically -&gt; Service returns 200 OK with BoardingPassResponseDTO -&gt; Thermal ticket printed.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07: COLLABORATIVE OBJECT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UML Collaboration / Communication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Object structural collaboration with numbered message exchanges during passenger security clearance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NUMBERED MESSAGE PASSING GRAPH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Focus: Passenger Security Clearance &amp; Boarding Authorization.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1: scanBoardingPass(barcode) -&gt; Security Officer scans ticket at Checkpoint T2-SEC-04.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1.1: validateTicket(barcode) -&gt; SecurityController queries BoardingPassRepository.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1.2: verifyEmigration(passengerId) -&gt; Checks immigration_records for international clearance.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1.3: createClearanceLog(status='APPROVED') -&gt; Inserts into passenger_clearance_logs with ON DELETE RESTRICT.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1.4: updateGateManifest(passengerId, 'CLEARED') -&gt; Gate reader updates passenger status for 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igure 7 - Collaboration 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08: DATA 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 Flow Diagrams: DFD Level 0 &amp; Level 1 Subsystems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Context-level entity boundaries and functional subsystem data transformations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DFD LEVEL 0: CONTEXT DIAGRAM</a:t>
            </a:r>
          </a:p>
        </p:txBody>
      </p:sp>
      <p:pic>
        <p:nvPicPr>
          <p:cNvPr id="8" name="Picture 7" descr="Figure 8.1 - DFD Level 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4560"/>
            <a:ext cx="4846320" cy="3931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DFD LEVEL 1: SUBSYSTEM DECOMPOSITION</a:t>
            </a:r>
          </a:p>
        </p:txBody>
      </p:sp>
      <p:pic>
        <p:nvPicPr>
          <p:cNvPr id="11" name="Picture 10" descr="Figure 8.2 - DFD Level 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194560"/>
            <a:ext cx="48463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DATABASE ENGINEERING &amp; SCHEMA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PostgreSQL 18 Relational Architecture (41 Tables in 3NF)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Enterprise relational database with 158,660+ records managed via 20 Flyway migrations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6 OPERATIONAL RELATIONAL DOMAINS</a:t>
            </a:r>
          </a:p>
          <a:p>
            <a:pPr>
              <a:spcBef>
                <a:spcPts val="300"/>
              </a:spcBef>
              <a:defRPr sz="1000" b="1">
                <a:solidFill>
                  <a:srgbClr val="F8FAFC"/>
                </a:solidFill>
              </a:defRPr>
            </a:pPr>
            <a:r>
              <a:t>• 1. Security &amp; Identity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roles, departments, users, user_phone_numbers, auth_sessions.</a:t>
            </a:r>
          </a:p>
          <a:p>
            <a:pPr>
              <a:spcBef>
                <a:spcPts val="300"/>
              </a:spcBef>
              <a:defRPr sz="1000" b="1">
                <a:solidFill>
                  <a:srgbClr val="F8FAFC"/>
                </a:solidFill>
              </a:defRPr>
            </a:pPr>
            <a:r>
              <a:t>• 2. Airfield Infrastructure (8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airlines, airports, aircraft_types, aircraft, gates, checkin_counters, stands, runways.</a:t>
            </a:r>
          </a:p>
          <a:p>
            <a:pPr>
              <a:spcBef>
                <a:spcPts val="300"/>
              </a:spcBef>
              <a:defRPr sz="1000" b="1">
                <a:solidFill>
                  <a:srgbClr val="F8FAFC"/>
                </a:solidFill>
              </a:defRPr>
            </a:pPr>
            <a:r>
              <a:t>• 3. Flight Operations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weather_reports, gate_assignment_rules, flights, delay_codes, delay_logs.</a:t>
            </a:r>
          </a:p>
          <a:p>
            <a:pPr>
              <a:spcBef>
                <a:spcPts val="300"/>
              </a:spcBef>
              <a:defRPr sz="1000" b="1">
                <a:solidFill>
                  <a:srgbClr val="F8FAFC"/>
                </a:solidFill>
              </a:defRPr>
            </a:pPr>
            <a:r>
              <a:t>• 4. Airside Turnaround (5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tasks, ground_equipment, equipment_assignments, fuel_logs, shift_handover_logs.</a:t>
            </a:r>
          </a:p>
          <a:p>
            <a:pPr>
              <a:spcBef>
                <a:spcPts val="300"/>
              </a:spcBef>
              <a:defRPr sz="1000" b="1">
                <a:solidFill>
                  <a:srgbClr val="F8FAFC"/>
                </a:solidFill>
              </a:defRPr>
            </a:pPr>
            <a:r>
              <a:t>• 5. Passenger &amp; Baggage (12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travelers, passengers, boarding_passes, bag_tags, baggage_scan_events, mishandled_baggage, checkpoints, clearance_logs, immigration_records, lounge_visits, carousels, lost_and_found.</a:t>
            </a:r>
          </a:p>
          <a:p>
            <a:pPr>
              <a:spcBef>
                <a:spcPts val="300"/>
              </a:spcBef>
              <a:defRPr sz="1000" b="1">
                <a:solidFill>
                  <a:srgbClr val="F8FAFC"/>
                </a:solidFill>
              </a:defRPr>
            </a:pPr>
            <a:r>
              <a:t>• 6. Commercial &amp; Audit (6 tables): 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cargo_manifests, feedback_logs, billing_invoices, invoice_line_items, operational_inquiries, audit_logs.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igure 9 - Relational Sch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DATABASE ENGINEERING &amp; DATA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Star Schema Dimensional Architecture for OLAP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De-normalized dimensional model optimized for operational KPI reporting and business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FACT &amp; 10 CONFORMED DIMENSIONS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• Central Fact: FACT_FLIGHT_TURNAROUND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Measures: planned_turnaround_mins, actual_turnaround_mins, turnaround_variance_mins, turnaround_efficiency_pct, total_delay_mins, ground_delay_mins, air_delay_mins, passenger_count, baggage_units_processed, fuel_delivered_liters, tasks_completed_on_time.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• Airfield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DIM_AIRCRAFT (registration, manufacturer, MTOW), DIM_GATE (terminal, concourse, gate_type), DIM_RUNWAY (runway_code, surface_type, length).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• Operational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DIM_TIME (date, quarter, month, shift, holiday_flag), DIM_FLIGHT (flight_no, carrier, route_type, status), DIM_LOGISTICS (equipment, fuel_density, carousel).</a:t>
            </a:r>
          </a:p>
          <a:p>
            <a:pPr>
              <a:spcBef>
                <a:spcPts val="400"/>
              </a:spcBef>
              <a:defRPr sz="1000" b="1">
                <a:solidFill>
                  <a:srgbClr val="FDE047"/>
                </a:solidFill>
              </a:defRPr>
            </a:pPr>
            <a:r>
              <a:t>• Identity &amp; Security Dimensions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DIM_USER (username, full_name), DIM_DEPARTMENT (department_name, manager), DIM_ROLE (role_name, clearance_level), DIM_PASSENGER (traveler, PNR, cabin_class).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5425135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igure 10 - Star Sch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059375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IMPLEMENTATION &amp; FULL-STACK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Full-Stack Technology Stack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Modern microservice-ready full-stack architecture with 100% live database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Frontend Application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React 19 + TypeScript + Vite.</a:t>
            </a:r>
            <a:br/>
            <a:r>
              <a:t>• Tailwind CSS + Material UI (MUI).</a:t>
            </a:r>
            <a:br/>
            <a:r>
              <a:t>• Axios HTTP Client with JWT interceptors.</a:t>
            </a:r>
            <a:br/>
            <a:r>
              <a:t>• React Router v6 with ProtectedRoute.</a:t>
            </a:r>
            <a:br/>
            <a:r>
              <a:t>• 16 Dedicated Web Consoles.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Backend REST Services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Java 17 (Pinned JDK) + Spring Boot 3.2.5.</a:t>
            </a:r>
            <a:br/>
            <a:r>
              <a:t>• Spring Security 6 with stateless JWT.</a:t>
            </a:r>
            <a:br/>
            <a:r>
              <a:t>• Spring Data JPA &amp; Hibernate 6 ORM.</a:t>
            </a:r>
            <a:br/>
            <a:r>
              <a:t>• 18 REST Controllers &amp; DTOs.</a:t>
            </a:r>
            <a:br/>
            <a:r>
              <a:t>• @ControllerAdvice Global Exception Handler.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Database &amp; Infrastructure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PostgreSQL 18 Relational Engine.</a:t>
            </a:r>
            <a:br/>
            <a:r>
              <a:t>• 20 Versioned Flyway Migrations.</a:t>
            </a:r>
            <a:br/>
            <a:r>
              <a:t>• Single active session governance (auth_sessions).</a:t>
            </a:r>
            <a:br/>
            <a:r>
              <a:t>• Docker Multi-Stage Builds &amp; Docker Compose.</a:t>
            </a:r>
            <a:br/>
            <a:r>
              <a:t>• Nginx Web Proxy &amp; Static Asset Caching.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LAB 09: VERIFICATION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Software Testing Suite &amp; Quality Assurance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109 automated unit and integration tests implementing formal testing techniques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1. Equivalence Partitioning (EP)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Validated valid vs. invalid flight state transitions (e.g. SCHEDULED -&gt; BOARDING -&gt; AIRBORNE is valid; SCHEDULED -&gt; LANDED directly is rejected with 400 Bad Request).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Boundary Value Analysis (BVA)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Tested gate wingspan thresholds (65.00m max limit tested at 64.99m [PASS], 65.00m [PASS], 65.01m [FAIL / 409 Conflict]); Baggage weight limits tested at 15kg &amp; 25kg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3. State Machine &amp; Transition Tests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Tested turnaround task dependencies: pushback status remains BLOCKED until cabin cleaning and apron fueling tasks reach status COMPLETED.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2976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4. Automated Regression Suite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109 JUnit 5 + Mockito unit tests covering session revocation, gate locks, and delay logs; Postman collection testing all 18 REST controllers with 100% pass rate.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DEMONSTRATION &amp; USER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Live Operational Consoles &amp; Public Passenger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16 dedicated web consoles providing role-tailored workflows across all aerodrome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PUBLIC PASSENGER PORTAL (7 PAGES)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1. Home Overview (/): Concourse telemetry bento &amp; 3D aircraft.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2. Live Flight Tracker (/tracker): Real-time interactive flight map.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3. Flight Timetable (/schedule): Multi-filter airline schedule.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4. Passenger Services (/passenger-services): Terminal amenities &amp; lost claims.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5. Cargo Logistics (/cargo): Air waybill freight tracking.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6. Airport Guide (/airport): Terminal maps &amp; aerodrome info.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7. Support Helpdesk (/contact): Support ticket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ROLE OPERATIONAL CONSOLES (9 DASHBOARDS)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8. DCS Check-In Desk (/dashboard/check-in): PNR search, seat map, IATA pass.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9. AOCC Controller (/dashboard/aocc): Turnaround Gantt &amp; delay logs.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10. Ground Ops Supervisor (/dashboard/ground-ops): Ramp equipment dispatch.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11. Airside Operations (/dashboard/airside-ops): Gate conflicts &amp; runway sweeps.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12. Logistics &amp; BHS (/dashboard/logistics): Baggage reclaim carousels.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13. Passenger Security (/dashboard/passenger-security): Clearance logs &amp; vault.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14. Airline Billing (/dashboard/billing): Tariff invoices &amp; line items.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15. System Admin (/dashboard/system-admin): User RBAC &amp; CSV/PDF/XLSX export.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16. Department Services (/dashboard/department): Shift handovers.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PROJECT SUMMARY &amp; FUTURE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Conclusion, Key Innovations &amp;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Summary of engineering achievements and roadmap for next-generation smart airport extensions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Engineering Summary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Delivered an enterprise-grade full-stack airport operations platform.</a:t>
            </a:r>
            <a:br/>
            <a:r>
              <a:t>• Satisfies 100% of academic evaluation criteria and 9 semester labs.</a:t>
            </a:r>
            <a:br/>
            <a:r>
              <a:t>• Scaled to 41 relational tables, 158k+ records, and 109 automated unit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Key Technical Innovations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Automated wingspan-vs-gate physical conflict detection engine.</a:t>
            </a:r>
            <a:br/>
            <a:r>
              <a:t>• Single active session security with server-side revocation (auth_sessions).</a:t>
            </a:r>
            <a:br/>
            <a:r>
              <a:t>• 8-Hour airfield shift handover logbook with digital sign-offs.</a:t>
            </a:r>
            <a:br/>
            <a:r>
              <a:t>• Streaming multi-format report exporter engine (CSV, PDF, Excel).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728655" cy="2194560"/>
          </a:xfrm>
          <a:prstGeom prst="roundRect">
            <a:avLst/>
          </a:prstGeom>
          <a:solidFill>
            <a:srgbClr val="172A45"/>
          </a:solidFill>
          <a:ln w="12700"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Future Roadmap: AI &amp; IoT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Machine Learning Turnaround Delay Forecasting using Random Forest models.</a:t>
            </a:r>
            <a:br/>
            <a:r>
              <a:t>• IoT RFID Apron Vehicle Fleet Tracking over MQTT telemetry brokers.</a:t>
            </a:r>
            <a:br/>
            <a:r>
              <a:t>• Biometric DigiYatra facial recognition e-gates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5011</Words>
  <Application>Microsoft Macintosh PowerPoint</Application>
  <PresentationFormat>Widescreen</PresentationFormat>
  <Paragraphs>317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KRISHNA SOLANKI - 70412400024</cp:lastModifiedBy>
  <cp:revision>2</cp:revision>
  <dcterms:created xsi:type="dcterms:W3CDTF">2013-01-27T09:14:16Z</dcterms:created>
  <dcterms:modified xsi:type="dcterms:W3CDTF">2026-10-03T15:06:33Z</dcterms:modified>
  <cp:category/>
</cp:coreProperties>
</file>